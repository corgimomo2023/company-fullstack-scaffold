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decision question. This V4 deck is deliberately honest: the methodology and research are complete, but no application-test or human-test winner is invented.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that this is a positive outcome: the evaluation is ready to run and the decision rule is protected from fabricated or incomplete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three exact deployable endpoints used by V4. Price figures are list prices, not the final accepted-build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research finding. Family or checkpoint capability must not be copied into an endpoint comparison without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separates model capability from service capability. The provider endpoint controls what the test can actually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55% controlled layer is dominant. External scores and model-card claims cannot overwhelm direct app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Application A focuses on common business workflow quality: state, validation, persistence, responsive behaviour, accessibility and maintainability.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Application B is not a screenshot contest. It tests real-time systems, regression risk and runtime stability.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fair test freezes the complete execution system. Differences in model family do not justify different prompts, correction budgets or evidence standards.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Applications are assigned to developers, not models. This reduces model-specific coaching or familiarity bias.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includes 18 run rows plus separate App A, App B and combined aggregates. Provider-native fields are preserved to avoid double-counting.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the original gap: V4 provides expected, actual and evidence fields for every acceptance item, plus run-level and aggregate measurement ledgers.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Anonymise builds where practical. Every rating needs a factual observation and reviewers should record disagreement rather than force consensus.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mandatory gates before scoring. For ties, prefer accepted-build rate, then lower human assistance, then lower cost per accepted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boundary is endpoint-specificity. Results do not automatically transfer to another provider, reasoning mode, context limit or model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case study traces the business question through research, frozen requirements, runs, correction, validation, human evaluation, economics, limitations and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requesting approval to run the frozen evidence pack. The next decision should be based on measured accepted-build evidence, not model naming or benchmark familiarity.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external facts in the deck are traceable to the V4 report source list. The authenticated provider catalogue is cited as a dated redacted capture.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VIBE CODING · MODEL EVALUATION V4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98480" y="182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2026-08-17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C757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35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VIBE CODING · MODEL EVALUATION V4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98480" y="182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2026-08-17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B7DCD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C757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822960"/>
            <a:ext cx="3291840" cy="3291840"/>
          </a:xfrm>
          <a:prstGeom prst="ellipse">
            <a:avLst/>
          </a:prstGeom>
          <a:solidFill>
            <a:srgbClr val="006A63">
              <a:alpha val="80000"/>
            </a:srgbClr>
          </a:solidFill>
          <a:ln w="12700">
            <a:solidFill>
              <a:srgbClr val="006A6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3291840"/>
            <a:ext cx="1920240" cy="1920240"/>
          </a:xfrm>
          <a:prstGeom prst="ellipse">
            <a:avLst/>
          </a:prstGeom>
          <a:solidFill>
            <a:srgbClr val="E6762D">
              <a:alpha val="88000"/>
            </a:srgbClr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0" y="4114800"/>
            <a:ext cx="1188720" cy="118872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98755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VIBE CODING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481328"/>
            <a:ext cx="7132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Report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327355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4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85800" y="3785616"/>
            <a:ext cx="6766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D7EA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complete. Controlled and human results intentionally unfilled.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85800" y="475488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7F3F1"/>
          </a:solidFill>
          <a:ln w="12700">
            <a:solidFill>
              <a:srgbClr val="E7F3F1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478231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candidate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4754880"/>
            <a:ext cx="2194560" cy="292608"/>
          </a:xfrm>
          <a:prstGeom prst="roundRect">
            <a:avLst>
              <a:gd name="adj" fmla="val 50000"/>
            </a:avLst>
          </a:prstGeom>
          <a:solidFill>
            <a:srgbClr val="FFF2EA"/>
          </a:solidFill>
          <a:ln w="12700">
            <a:solidFill>
              <a:srgbClr val="FFF2E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34640" y="47823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complete app workflows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66360" y="4754880"/>
            <a:ext cx="2468880" cy="292608"/>
          </a:xfrm>
          <a:prstGeom prst="roundRect">
            <a:avLst>
              <a:gd name="adj" fmla="val 50000"/>
            </a:avLst>
          </a:prstGeom>
          <a:solidFill>
            <a:srgbClr val="D7EAE8"/>
          </a:solidFill>
          <a:ln w="12700">
            <a:solidFill>
              <a:srgbClr val="D7EAE8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66360" y="478231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55 / 30 evidence model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5577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internal model-selection review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Companion to: ai-vibe-coding-model-comparison-test-report-v4.docx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B7DCD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DECISION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V4 result: evaluation-ready, not decision-ready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responsible answer before controlled execution is “no winner yet”.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2304288"/>
            <a:ext cx="4572000" cy="3291840"/>
          </a:xfrm>
          <a:prstGeom prst="roundRect">
            <a:avLst>
              <a:gd name="adj" fmla="val 2222"/>
            </a:avLst>
          </a:prstGeom>
          <a:solidFill>
            <a:srgbClr val="003531"/>
          </a:solidFill>
          <a:ln w="12700">
            <a:solidFill>
              <a:srgbClr val="003531">
                <a:alpha val="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670048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3900" dirty="0"/>
          </a:p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</a:t>
            </a:r>
            <a:endParaRPr lang="en-US" sz="3900" dirty="0"/>
          </a:p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YET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960120" y="490118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evidence is not a zero. It is a stop sign.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0" y="2304288"/>
            <a:ext cx="6080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806440" y="254203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309360" y="248716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Freeze exact endpoints, prompts, tools and evidence rules.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0" y="3456432"/>
            <a:ext cx="6080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06440" y="369417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309360" y="3621024"/>
            <a:ext cx="4663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To-Do List + vertical shooter three times per endpoint.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0" y="4608576"/>
            <a:ext cx="6080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806440" y="48463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09360" y="479145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mandatory gates first; rank only complete evidence.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report §1 and §14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C757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SET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exact endpoints — not family names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facts below are current provider or official model-card facts; none are app-test results.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2331720"/>
            <a:ext cx="3273552" cy="3566160"/>
          </a:xfrm>
          <a:prstGeom prst="roundRect">
            <a:avLst>
              <a:gd name="adj" fmla="val 2235"/>
            </a:avLst>
          </a:prstGeom>
          <a:solidFill>
            <a:srgbClr val="E7F3F1"/>
          </a:solidFill>
          <a:ln w="12700">
            <a:solidFill>
              <a:srgbClr val="CECECE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50392" y="258775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828800" y="2578608"/>
            <a:ext cx="1691640" cy="292608"/>
          </a:xfrm>
          <a:prstGeom prst="roundRect">
            <a:avLst>
              <a:gd name="adj" fmla="val 50000"/>
            </a:avLst>
          </a:prstGeom>
          <a:solidFill>
            <a:srgbClr val="003531"/>
          </a:solidFill>
          <a:ln w="12700">
            <a:solidFill>
              <a:srgbClr val="003531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260604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COST-FOCUSED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50392" y="315468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deepseek-ai/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DeepSeek-V4-Flash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50392" y="416052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6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131K endpoint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50392" y="478231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provider limit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50392" y="49834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$0.14 / $0.28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0392" y="528523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/ 1M input · output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50392" y="5596128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Text-only endpoint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62272" y="2331720"/>
            <a:ext cx="3273552" cy="3566160"/>
          </a:xfrm>
          <a:prstGeom prst="roundRect">
            <a:avLst>
              <a:gd name="adj" fmla="val 2235"/>
            </a:avLst>
          </a:prstGeom>
          <a:solidFill>
            <a:srgbClr val="FFF2EA"/>
          </a:solidFill>
          <a:ln w="12700">
            <a:solidFill>
              <a:srgbClr val="CECECE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18304" y="258775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696712" y="2578608"/>
            <a:ext cx="1691640" cy="292608"/>
          </a:xfrm>
          <a:prstGeom prst="roundRect">
            <a:avLst>
              <a:gd name="adj" fmla="val 50000"/>
            </a:avLst>
          </a:prstGeom>
          <a:solidFill>
            <a:srgbClr val="003531"/>
          </a:solidFill>
          <a:ln w="12700">
            <a:solidFill>
              <a:srgbClr val="003531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96712" y="260604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HYPOTHESIS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18304" y="315468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deepseek-ai/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DeepSeek-V4-Pro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18304" y="416052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6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131K endpoint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4718304" y="478231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provider limit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18304" y="49834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$0.435 / $0.87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718304" y="528523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/ 1M input · output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18304" y="5596128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Text-only endpoint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330184" y="2331720"/>
            <a:ext cx="3273552" cy="3566160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CECECE">
                <a:alpha val="7500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586216" y="258775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9564624" y="2578608"/>
            <a:ext cx="1691640" cy="292608"/>
          </a:xfrm>
          <a:prstGeom prst="roundRect">
            <a:avLst>
              <a:gd name="adj" fmla="val 50000"/>
            </a:avLst>
          </a:prstGeom>
          <a:solidFill>
            <a:srgbClr val="003531"/>
          </a:solidFill>
          <a:ln w="12700">
            <a:solidFill>
              <a:srgbClr val="003531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564624" y="260604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OPEN-WEIGHT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86216" y="315468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Qwen/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Qwen3.5-9B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586216" y="416052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6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endpoint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8586216" y="478231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provider limit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86216" y="49834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$0.30 / $0.30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586216" y="528523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/ 1M input · output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86216" y="5596128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Weights have vision; endpoint does not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official DeepSeek/Qwen model cards + authenticated Pioneer /v1/models, captured 2026-08-17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C757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RESEARCH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Model-card context ≠ provider endpoint context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7EA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endpoint limit governs this test. A checkpoint headline does 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5303520" cy="3246120"/>
          </a:xfrm>
          <a:prstGeom prst="roundRect">
            <a:avLst>
              <a:gd name="adj" fmla="val 2254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6974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333756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9593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model card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97480" y="3611880"/>
            <a:ext cx="731520" cy="475488"/>
          </a:xfrm>
          <a:prstGeom prst="chevron">
            <a:avLst/>
          </a:prstGeom>
          <a:solidFill>
            <a:srgbClr val="B7DCD8"/>
          </a:solidFill>
          <a:ln w="12700">
            <a:solidFill>
              <a:srgbClr val="B7DCD8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3337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131K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657600" y="395935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endpoint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4800600"/>
            <a:ext cx="4343400" cy="292608"/>
          </a:xfrm>
          <a:prstGeom prst="roundRect">
            <a:avLst>
              <a:gd name="adj" fmla="val 50000"/>
            </a:avLst>
          </a:prstGeom>
          <a:solidFill>
            <a:srgbClr val="006A63"/>
          </a:solidFill>
          <a:ln w="12700">
            <a:solidFill>
              <a:srgbClr val="006A6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828032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131K FOR TEST DESIGN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36208" y="2377440"/>
            <a:ext cx="5303520" cy="3246120"/>
          </a:xfrm>
          <a:prstGeom prst="roundRect">
            <a:avLst>
              <a:gd name="adj" fmla="val 2254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56248" y="26974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Qwen3.5-9B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556248" y="333756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262K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6556248" y="39593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checkpoint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357616" y="3611880"/>
            <a:ext cx="731520" cy="475488"/>
          </a:xfrm>
          <a:prstGeom prst="chevron">
            <a:avLst/>
          </a:prstGeom>
          <a:solidFill>
            <a:srgbClr val="B7DCD8"/>
          </a:solidFill>
          <a:ln w="12700">
            <a:solidFill>
              <a:srgbClr val="B7DCD8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81160" y="333756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281160" y="395935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endpoint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56248" y="4800600"/>
            <a:ext cx="4343400" cy="292608"/>
          </a:xfrm>
          <a:prstGeom prst="roundRect">
            <a:avLst>
              <a:gd name="adj" fmla="val 50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56248" y="4828032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32K FOR TEST DESIGN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model cards + provider catalogue. Qwen can extend to ~1.01M only with special serving configuration.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B7DCD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REALITY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in the weights does not guarantee vision at the endpoint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 screenshot canary. Never infer support from the model family.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429768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2880360"/>
            <a:ext cx="1508760" cy="1143000"/>
          </a:xfrm>
          <a:prstGeom prst="rect">
            <a:avLst/>
          </a:prstGeom>
          <a:solidFill>
            <a:srgbClr val="E7F3F1"/>
          </a:solidFill>
          <a:ln w="19050">
            <a:solidFill>
              <a:srgbClr val="006A6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17320" y="3154680"/>
            <a:ext cx="256032" cy="256032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34640" y="3172968"/>
            <a:ext cx="658368" cy="457200"/>
          </a:xfrm>
          <a:prstGeom prst="chevron">
            <a:avLst/>
          </a:prstGeom>
          <a:solidFill>
            <a:srgbClr val="006A63"/>
          </a:solidFill>
          <a:ln w="12700">
            <a:solidFill>
              <a:srgbClr val="006A6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0" y="2880360"/>
            <a:ext cx="841248" cy="841248"/>
          </a:xfrm>
          <a:prstGeom prst="ellipse">
            <a:avLst/>
          </a:prstGeom>
          <a:solidFill>
            <a:srgbClr val="003531"/>
          </a:solidFill>
          <a:ln w="12700">
            <a:solidFill>
              <a:srgbClr val="003531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3136392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43708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 capability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43000" y="47548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Qwen3.5-9B official weights include a vision encoder.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321808" y="2377440"/>
            <a:ext cx="6172200" cy="3246120"/>
          </a:xfrm>
          <a:prstGeom prst="roundRect">
            <a:avLst>
              <a:gd name="adj" fmla="val 2254"/>
            </a:avLst>
          </a:prstGeom>
          <a:solidFill>
            <a:srgbClr val="FFF2EA"/>
          </a:solidFill>
          <a:ln w="12700">
            <a:solidFill>
              <a:srgbClr val="FFF2EA">
                <a:alpha val="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806440" y="2880360"/>
            <a:ext cx="914400" cy="914400"/>
          </a:xfrm>
          <a:prstGeom prst="ellipse">
            <a:avLst/>
          </a:prstGeom>
          <a:solidFill>
            <a:srgbClr val="B15315"/>
          </a:solidFill>
          <a:ln w="12700">
            <a:solidFill>
              <a:srgbClr val="B15315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06440" y="3044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086600" y="28163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endpoint flags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086600" y="3502152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06056" y="3429000"/>
            <a:ext cx="3666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 Flash: image input false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086600" y="4005072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06056" y="3931920"/>
            <a:ext cx="3666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 Pro: image input false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086600" y="4507992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06056" y="4434840"/>
            <a:ext cx="3666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Qwen3.5-9B: image input false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086600" y="5074920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003531"/>
          </a:solidFill>
          <a:ln w="12700">
            <a:solidFill>
              <a:srgbClr val="003531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86600" y="510235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TEXT-ONLY BASELINE FOR V4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official Qwen3.5-9B model card + provider capability flags, 2026-08-17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C757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layers prevent a benchmark-only decision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evidence informs the test. Controlled delivery and human judgement decide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788920"/>
            <a:ext cx="1600200" cy="1097280"/>
          </a:xfrm>
          <a:prstGeom prst="roundRect">
            <a:avLst>
              <a:gd name="adj" fmla="val 6667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99008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14600" y="2788920"/>
            <a:ext cx="5897880" cy="1097280"/>
          </a:xfrm>
          <a:prstGeom prst="roundRect">
            <a:avLst>
              <a:gd name="adj" fmla="val 6667"/>
            </a:avLst>
          </a:prstGeom>
          <a:solidFill>
            <a:srgbClr val="006A63"/>
          </a:solidFill>
          <a:ln w="12700">
            <a:solidFill>
              <a:srgbClr val="006A6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2990088"/>
            <a:ext cx="5897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2514600" y="3474720"/>
            <a:ext cx="5897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application test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595360" y="278892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003531"/>
          </a:solidFill>
          <a:ln w="12700">
            <a:solidFill>
              <a:srgbClr val="003531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0" y="299008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8595360" y="347472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evaluation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434340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60120" y="45720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the endpoint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60120" y="49560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cards · provider limits · price · licence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60520" y="434340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89120" y="45720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delivery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389120" y="49560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· reliability · time · tokens · accepted cost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89520" y="434340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818120" y="45720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usability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818120" y="49560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 · fit · trust · recovery · maintainability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V4 decision rule; ISO/IEC 25010 informs product-quality coverage but does not prescribe these weights.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C757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List: the business workflow test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familiar UI makes requirement gaps, validation and persistence easy to verify.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011680" y="3154680"/>
            <a:ext cx="384048" cy="365760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651760"/>
            <a:ext cx="1234440" cy="1234440"/>
          </a:xfrm>
          <a:prstGeom prst="ellipse">
            <a:avLst/>
          </a:prstGeom>
          <a:solidFill>
            <a:srgbClr val="006A6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94436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409651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4425696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input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86200" y="3154680"/>
            <a:ext cx="384048" cy="365760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2651760"/>
            <a:ext cx="1234440" cy="1234440"/>
          </a:xfrm>
          <a:prstGeom prst="ellipse">
            <a:avLst/>
          </a:prstGeom>
          <a:solidFill>
            <a:srgbClr val="006A6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0" y="294436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2423160" y="409651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423160" y="4425696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fields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760720" y="3154680"/>
            <a:ext cx="384048" cy="365760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34840" y="2651760"/>
            <a:ext cx="1234440" cy="1234440"/>
          </a:xfrm>
          <a:prstGeom prst="ellipse">
            <a:avLst/>
          </a:prstGeom>
          <a:solidFill>
            <a:srgbClr val="006A6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34840" y="294436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297680" y="409651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297680" y="4425696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reopen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35240" y="3154680"/>
            <a:ext cx="384048" cy="365760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2651760"/>
            <a:ext cx="1234440" cy="1234440"/>
          </a:xfrm>
          <a:prstGeom prst="ellipse">
            <a:avLst/>
          </a:prstGeom>
          <a:solidFill>
            <a:srgbClr val="006A6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294436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172200" y="409651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172200" y="4425696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/ active / done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09760" y="3154680"/>
            <a:ext cx="384048" cy="365760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83880" y="2651760"/>
            <a:ext cx="1234440" cy="1234440"/>
          </a:xfrm>
          <a:prstGeom prst="ellipse">
            <a:avLst/>
          </a:prstGeom>
          <a:solidFill>
            <a:srgbClr val="006A6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83880" y="294436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8046720" y="409651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046720" y="4425696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reload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058400" y="2651760"/>
            <a:ext cx="1234440" cy="1234440"/>
          </a:xfrm>
          <a:prstGeom prst="ellipse">
            <a:avLst/>
          </a:prstGeom>
          <a:solidFill>
            <a:srgbClr val="E676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58400" y="294436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9921240" y="409651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921240" y="4425696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+ a11y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800" y="5074920"/>
            <a:ext cx="10972800" cy="822960"/>
          </a:xfrm>
          <a:prstGeom prst="roundRect">
            <a:avLst>
              <a:gd name="adj" fmla="val 8889"/>
            </a:avLst>
          </a:prstGeom>
          <a:solidFill>
            <a:srgbClr val="003531"/>
          </a:solidFill>
          <a:ln w="12700">
            <a:solidFill>
              <a:srgbClr val="003531">
                <a:alpha val="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60120" y="53218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gate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2606040" y="5285232"/>
            <a:ext cx="845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mandatory journeys pass · no critical accessibility issue · no console error · tests pass · evidence complete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report §7 · WCAG 2.2 · Google Web Vitals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C757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1942-style vertical shooter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7EA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harder systems test: real-time state, collision, input, performance and originality.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 rot="16200000">
            <a:off x="1234440" y="4343400"/>
            <a:ext cx="914400" cy="1097280"/>
          </a:xfrm>
          <a:prstGeom prst="chevron">
            <a:avLst/>
          </a:prstGeom>
          <a:solidFill>
            <a:srgbClr val="E9A36F"/>
          </a:solidFill>
          <a:ln w="12700">
            <a:solidFill>
              <a:srgbClr val="E9A36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27632" y="3657600"/>
            <a:ext cx="12801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27632" y="3063240"/>
            <a:ext cx="12801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27632" y="2468880"/>
            <a:ext cx="12801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423160"/>
            <a:ext cx="566928" cy="438912"/>
          </a:xfrm>
          <a:prstGeom prst="hexagon">
            <a:avLst/>
          </a:prstGeom>
          <a:solidFill>
            <a:srgbClr val="006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37360" y="2926080"/>
            <a:ext cx="566928" cy="438912"/>
          </a:xfrm>
          <a:prstGeom prst="hexagon">
            <a:avLst/>
          </a:prstGeom>
          <a:solidFill>
            <a:srgbClr val="006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51760" y="2423160"/>
            <a:ext cx="566928" cy="438912"/>
          </a:xfrm>
          <a:prstGeom prst="hexagon">
            <a:avLst/>
          </a:prstGeom>
          <a:solidFill>
            <a:srgbClr val="006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66160" y="2926080"/>
            <a:ext cx="566928" cy="438912"/>
          </a:xfrm>
          <a:prstGeom prst="hexagon">
            <a:avLst/>
          </a:prstGeom>
          <a:solidFill>
            <a:srgbClr val="E6762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237744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30632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· boss · pause · restart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909560" y="237744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0" y="30632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Movement · fire · collision · damage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0" y="397764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4297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4663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FPS · 1% low · 10-minute stability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909560" y="397764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42976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0" y="4663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copied art · audio · maps · branding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report §8 · fixed hardware/browser · original assets only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B7DCD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FAIRNESS CONTROLS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race. Same track. Same finish line.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model endpoint changes between valid runs.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423160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E7F3F1"/>
          </a:solidFill>
          <a:ln w="12700">
            <a:solidFill>
              <a:srgbClr val="CECECE">
                <a:alpha val="6000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41832" y="2734056"/>
            <a:ext cx="566928" cy="566928"/>
          </a:xfrm>
          <a:prstGeom prst="ellipse">
            <a:avLst/>
          </a:prstGeom>
          <a:solidFill>
            <a:srgbClr val="006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87121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709928" y="26791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709928" y="302666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Frozen task + acceptance criteria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80560" y="2423160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ECECE">
                <a:alpha val="6000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36592" y="2734056"/>
            <a:ext cx="566928" cy="566928"/>
          </a:xfrm>
          <a:prstGeom prst="ellipse">
            <a:avLst/>
          </a:prstGeom>
          <a:solidFill>
            <a:srgbClr val="006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36592" y="287121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504688" y="26791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504688" y="302666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clean starting commit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2423160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E7F3F1"/>
          </a:solidFill>
          <a:ln w="12700">
            <a:solidFill>
              <a:srgbClr val="CECECE">
                <a:alpha val="6000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31352" y="2734056"/>
            <a:ext cx="566928" cy="566928"/>
          </a:xfrm>
          <a:prstGeom prst="ellipse">
            <a:avLst/>
          </a:prstGeom>
          <a:solidFill>
            <a:srgbClr val="006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31352" y="287121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299448" y="26791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299448" y="302666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agent, tools and permissions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4023360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ECECE">
                <a:alpha val="6000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41832" y="4334256"/>
            <a:ext cx="566928" cy="566928"/>
          </a:xfrm>
          <a:prstGeom prst="ellipse">
            <a:avLst/>
          </a:prstGeom>
          <a:solidFill>
            <a:srgbClr val="006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1832" y="447141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709928" y="42793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709928" y="462686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OS, browser and hardware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480560" y="4023360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E7F3F1"/>
          </a:solidFill>
          <a:ln w="12700">
            <a:solidFill>
              <a:srgbClr val="CECECE">
                <a:alpha val="6000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36592" y="4334256"/>
            <a:ext cx="566928" cy="5669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36592" y="447141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04688" y="42793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Limits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504688" y="462686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 + max two corrections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75320" y="4023360"/>
            <a:ext cx="33375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ECECE">
                <a:alpha val="6000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531352" y="4334256"/>
            <a:ext cx="566928" cy="566928"/>
          </a:xfrm>
          <a:prstGeom prst="ellipse">
            <a:avLst/>
          </a:prstGeom>
          <a:solidFill>
            <a:srgbClr val="006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31352" y="4471416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299448" y="42793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299448" y="462686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tests, screenshots and logs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85800" y="5650992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2EA"/>
          </a:solidFill>
          <a:ln w="12700">
            <a:solidFill>
              <a:srgbClr val="FFF2EA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120" y="5797296"/>
            <a:ext cx="10378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Invalid run ≠ bad model run. Preserve the evidence and classify model, provider, infrastructure or tester cause.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report §5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C757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developers. Five days. No model ownership bias.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developer owns an application and tests every candidate.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414016" y="3401568"/>
            <a:ext cx="347472" cy="384048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880360"/>
            <a:ext cx="1280160" cy="1280160"/>
          </a:xfrm>
          <a:prstGeom prst="ellipse">
            <a:avLst/>
          </a:prstGeom>
          <a:solidFill>
            <a:srgbClr val="006A6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31638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29768" y="44074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FREEZE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" y="473659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prompts · repos · limits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0016" y="3401568"/>
            <a:ext cx="347472" cy="384048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44368" y="2880360"/>
            <a:ext cx="1280160" cy="1280160"/>
          </a:xfrm>
          <a:prstGeom prst="ellipse">
            <a:avLst/>
          </a:prstGeom>
          <a:solidFill>
            <a:srgbClr val="006A6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31638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715768" y="44074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RUNS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15768" y="473659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builds · raw logs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86016" y="3401568"/>
            <a:ext cx="347472" cy="384048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30368" y="2880360"/>
            <a:ext cx="1280160" cy="1280160"/>
          </a:xfrm>
          <a:prstGeom prst="ellipse">
            <a:avLst/>
          </a:prstGeom>
          <a:solidFill>
            <a:srgbClr val="006A6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0368" y="31638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5001768" y="44074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+ FIX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01768" y="473659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runs · correction rounds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272016" y="3401568"/>
            <a:ext cx="347472" cy="384048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516368" y="2880360"/>
            <a:ext cx="1280160" cy="1280160"/>
          </a:xfrm>
          <a:prstGeom prst="ellipse">
            <a:avLst/>
          </a:prstGeom>
          <a:solidFill>
            <a:srgbClr val="006A6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16368" y="31638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7287768" y="44074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287768" y="473659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cross-review · interviews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802368" y="2880360"/>
            <a:ext cx="1280160" cy="1280160"/>
          </a:xfrm>
          <a:prstGeom prst="ellipse">
            <a:avLst/>
          </a:prstGeom>
          <a:solidFill>
            <a:srgbClr val="E676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02368" y="31638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573768" y="44074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573768" y="473659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· gates · recommendation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85800" y="5532120"/>
            <a:ext cx="5303520" cy="640080"/>
          </a:xfrm>
          <a:prstGeom prst="roundRect">
            <a:avLst>
              <a:gd name="adj" fmla="val 11429"/>
            </a:avLst>
          </a:prstGeom>
          <a:solidFill>
            <a:srgbClr val="003531"/>
          </a:solidFill>
          <a:ln w="12700">
            <a:solidFill>
              <a:srgbClr val="003531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57150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1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194560" y="5715000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App A · cross-reviews App B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172200" y="5532120"/>
            <a:ext cx="5303520" cy="640080"/>
          </a:xfrm>
          <a:prstGeom prst="roundRect">
            <a:avLst>
              <a:gd name="adj" fmla="val 11429"/>
            </a:avLst>
          </a:prstGeom>
          <a:solidFill>
            <a:srgbClr val="003531"/>
          </a:solidFill>
          <a:ln w="12700">
            <a:solidFill>
              <a:srgbClr val="003531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46520" y="57150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680960" y="5715000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App B · cross-reviews App 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report §6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C757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ECONOMICS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accounting starts at the run — not the summary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7EA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 provider-native fields before calculating comparable totals.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1170432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84378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2816352"/>
            <a:ext cx="201168" cy="329184"/>
          </a:xfrm>
          <a:prstGeom prst="chevron">
            <a:avLst/>
          </a:prstGeom>
          <a:solidFill>
            <a:srgbClr val="B7DCD8"/>
          </a:solidFill>
          <a:ln w="12700">
            <a:solidFill>
              <a:srgbClr val="B7DC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57400" y="2560320"/>
            <a:ext cx="1170432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48840" y="284378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2816352"/>
            <a:ext cx="201168" cy="329184"/>
          </a:xfrm>
          <a:prstGeom prst="chevron">
            <a:avLst/>
          </a:prstGeom>
          <a:solidFill>
            <a:srgbClr val="B7DCD8"/>
          </a:solidFill>
          <a:ln w="12700">
            <a:solidFill>
              <a:srgbClr val="B7DCD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2560320"/>
            <a:ext cx="1170432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284378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816352"/>
            <a:ext cx="201168" cy="329184"/>
          </a:xfrm>
          <a:prstGeom prst="chevron">
            <a:avLst/>
          </a:prstGeom>
          <a:solidFill>
            <a:srgbClr val="B7DCD8"/>
          </a:solidFill>
          <a:ln w="12700">
            <a:solidFill>
              <a:srgbClr val="B7DCD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92040" y="2560320"/>
            <a:ext cx="1170432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83480" y="284378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80760" y="2816352"/>
            <a:ext cx="201168" cy="329184"/>
          </a:xfrm>
          <a:prstGeom prst="chevron">
            <a:avLst/>
          </a:prstGeom>
          <a:solidFill>
            <a:srgbClr val="B7DCD8"/>
          </a:solidFill>
          <a:ln w="12700">
            <a:solidFill>
              <a:srgbClr val="B7DCD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2560320"/>
            <a:ext cx="1170432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284378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498080" y="2816352"/>
            <a:ext cx="201168" cy="329184"/>
          </a:xfrm>
          <a:prstGeom prst="chevron">
            <a:avLst/>
          </a:prstGeom>
          <a:solidFill>
            <a:srgbClr val="B7DCD8"/>
          </a:solidFill>
          <a:ln w="12700">
            <a:solidFill>
              <a:srgbClr val="B7DCD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26680" y="2560320"/>
            <a:ext cx="1170432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18120" y="284378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915400" y="2816352"/>
            <a:ext cx="201168" cy="329184"/>
          </a:xfrm>
          <a:prstGeom prst="chevron">
            <a:avLst/>
          </a:prstGeom>
          <a:solidFill>
            <a:srgbClr val="B7DCD8"/>
          </a:solidFill>
          <a:ln w="12700">
            <a:solidFill>
              <a:srgbClr val="B7DCD8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0" y="2560320"/>
            <a:ext cx="1170432" cy="868680"/>
          </a:xfrm>
          <a:prstGeom prst="roundRect">
            <a:avLst>
              <a:gd name="adj" fmla="val 6316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0" y="284378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total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0332720" y="2816352"/>
            <a:ext cx="201168" cy="329184"/>
          </a:xfrm>
          <a:prstGeom prst="chevron">
            <a:avLst/>
          </a:prstGeom>
          <a:solidFill>
            <a:srgbClr val="B7DCD8"/>
          </a:solidFill>
          <a:ln w="12700">
            <a:solidFill>
              <a:srgbClr val="B7DCD8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561320" y="2560320"/>
            <a:ext cx="1170432" cy="868680"/>
          </a:xfrm>
          <a:prstGeom prst="roundRect">
            <a:avLst>
              <a:gd name="adj" fmla="val 6316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652760" y="284378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85800" y="388620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416052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960120" y="4782312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A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645920" y="41605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· cost · accepted builds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per-success efficiency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407408" y="388620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81728" y="416052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3400" dirty="0"/>
          </a:p>
        </p:txBody>
      </p:sp>
      <p:sp>
        <p:nvSpPr>
          <p:cNvPr id="34" name="Text 32"/>
          <p:cNvSpPr/>
          <p:nvPr/>
        </p:nvSpPr>
        <p:spPr>
          <a:xfrm>
            <a:off x="4681728" y="4782312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B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67528" y="41605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· cost · accepted builds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per-success efficiency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8129016" y="388620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03336" y="416052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3400" dirty="0"/>
          </a:p>
        </p:txBody>
      </p:sp>
      <p:sp>
        <p:nvSpPr>
          <p:cNvPr id="38" name="Text 36"/>
          <p:cNvSpPr/>
          <p:nvPr/>
        </p:nvSpPr>
        <p:spPr>
          <a:xfrm>
            <a:off x="8403336" y="4782312"/>
            <a:ext cx="594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+ B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089136" y="41605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A + B visible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publish only one total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77240" y="57607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7EA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 may already be included in output. Image tokens may be unreported. Subscription cost is not API token cost.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report §10–12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B7DCD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DISCIPLINE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is frozen. Actual is observed.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result is not a restatement of the requirement. It is an evidence-backed observation.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468880"/>
            <a:ext cx="5166360" cy="2971800"/>
          </a:xfrm>
          <a:prstGeom prst="roundRect">
            <a:avLst>
              <a:gd name="adj" fmla="val 2462"/>
            </a:avLst>
          </a:prstGeom>
          <a:solidFill>
            <a:srgbClr val="E7F3F1"/>
          </a:solidFill>
          <a:ln w="12700">
            <a:solidFill>
              <a:srgbClr val="E7F3F1">
                <a:alpha val="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7889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006A63"/>
          </a:solidFill>
          <a:ln w="12700">
            <a:solidFill>
              <a:srgbClr val="006A6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81635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RUN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336499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1005840" y="4050792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25296" y="3977640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 ID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05840" y="4480560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25296" y="4407408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Verifiable acceptance outcome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05840" y="4910328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4837176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or optional gate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61888" y="3584448"/>
            <a:ext cx="502920" cy="658368"/>
          </a:xfrm>
          <a:prstGeom prst="chevron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65392" y="2468880"/>
            <a:ext cx="493776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85432" y="27889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85432" y="281635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RUN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85432" y="336499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</a:t>
            </a:r>
            <a:endParaRPr lang="en-US" sz="2900" dirty="0"/>
          </a:p>
        </p:txBody>
      </p:sp>
      <p:sp>
        <p:nvSpPr>
          <p:cNvPr id="20" name="Shape 18"/>
          <p:cNvSpPr/>
          <p:nvPr/>
        </p:nvSpPr>
        <p:spPr>
          <a:xfrm>
            <a:off x="6885432" y="4050792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04888" y="3977640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/ Partial / Fail / Invalid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885432" y="4480560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04888" y="4407408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behaviour + severity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885432" y="4910328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04888" y="4837176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Test, screenshot, log or video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920240" y="5806440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data remains “Not yet measured” — never 0.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report §7–9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C757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questions — but one complete workflow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Interviews support the case study. They do not replace the build, test and correction journey.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514600"/>
            <a:ext cx="2423160" cy="2377440"/>
          </a:xfrm>
          <a:prstGeom prst="roundRect">
            <a:avLst>
              <a:gd name="adj" fmla="val 3077"/>
            </a:avLst>
          </a:prstGeom>
          <a:solidFill>
            <a:srgbClr val="E7F3F1"/>
          </a:solidFill>
          <a:ln w="12700">
            <a:solidFill>
              <a:srgbClr val="CECECE">
                <a:alpha val="5500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816352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006A63"/>
          </a:solidFill>
          <a:ln w="12700">
            <a:solidFill>
              <a:srgbClr val="006A6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8437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33375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users complete the task?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418795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First-use clarity · controls · mobile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2514600"/>
            <a:ext cx="24231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ECECE">
                <a:alpha val="5500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49040" y="2816352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49040" y="28437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49040" y="33375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errors and state changes make sense?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749040" y="418795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· deletion · pause · restart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63640" y="2514600"/>
            <a:ext cx="2423160" cy="2377440"/>
          </a:xfrm>
          <a:prstGeom prst="roundRect">
            <a:avLst>
              <a:gd name="adj" fmla="val 3077"/>
            </a:avLst>
          </a:prstGeom>
          <a:solidFill>
            <a:srgbClr val="E7F3F1"/>
          </a:solidFill>
          <a:ln w="12700">
            <a:solidFill>
              <a:srgbClr val="CECECE">
                <a:alpha val="5500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37960" y="2816352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006A63"/>
          </a:solidFill>
          <a:ln w="12700">
            <a:solidFill>
              <a:srgbClr val="006A6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8437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37960" y="33375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build match requirements?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37960" y="418795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features · expectation gaps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052560" y="2514600"/>
            <a:ext cx="24231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ECECE">
                <a:alpha val="5500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326880" y="2816352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006A63"/>
          </a:solidFill>
          <a:ln w="12700">
            <a:solidFill>
              <a:srgbClr val="006A63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0" y="28437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326880" y="33375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engineers continue this codebase?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326880" y="418795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· tests · documentation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5257800"/>
            <a:ext cx="10835640" cy="685800"/>
          </a:xfrm>
          <a:prstGeom prst="roundRect">
            <a:avLst>
              <a:gd name="adj" fmla="val 10667"/>
            </a:avLst>
          </a:prstGeom>
          <a:solidFill>
            <a:srgbClr val="003531"/>
          </a:solidFill>
          <a:ln w="12700">
            <a:solidFill>
              <a:srgbClr val="003531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0120" y="54772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anchors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2606040" y="5477256"/>
            <a:ext cx="8183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= cannot complete / unsafe     3 = works with friction     5 = clear, efficient and maintainable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report §13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C757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LOGIC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the gate. Then calculate the score.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7EA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high average cannot rescue a broken or unsafe accepted build.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423160"/>
            <a:ext cx="3840480" cy="3108960"/>
          </a:xfrm>
          <a:prstGeom prst="roundRect">
            <a:avLst>
              <a:gd name="adj" fmla="val 2353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76148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GATE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32461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1005840" y="4169664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25296" y="4096512"/>
            <a:ext cx="2752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mandatory requirements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4572000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25296" y="4498848"/>
            <a:ext cx="2752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unresolved S1 / S2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05840" y="4974336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25296" y="4901184"/>
            <a:ext cx="2752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secret or unlicensed asset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73168" y="3429000"/>
            <a:ext cx="713232" cy="749808"/>
          </a:xfrm>
          <a:prstGeom prst="chevron">
            <a:avLst/>
          </a:prstGeom>
          <a:solidFill>
            <a:srgbClr val="B7DCD8"/>
          </a:solidFill>
          <a:ln w="12700">
            <a:solidFill>
              <a:srgbClr val="B7DCD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42432" y="2423160"/>
            <a:ext cx="5760720" cy="3108960"/>
          </a:xfrm>
          <a:prstGeom prst="roundRect">
            <a:avLst>
              <a:gd name="adj" fmla="val 2353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0760" y="276148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SCORE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80760" y="33101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0.15 External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75320" y="33101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641080" y="33101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0.55 Controlled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452360" y="400507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+ 0.30 Human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510528" y="4828032"/>
            <a:ext cx="4251960" cy="292608"/>
          </a:xfrm>
          <a:prstGeom prst="roundRect">
            <a:avLst>
              <a:gd name="adj" fmla="val 50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0528" y="4855464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TIE: accepted rate → assistance → cost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report §14 · missing evidence is not rankable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B7DCD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BOUNDARIES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V4 can say — and what it cannot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limitation section is part of the decision, not a disclaimer.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46888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E7F3F1"/>
          </a:solidFill>
          <a:ln w="12700">
            <a:solidFill>
              <a:srgbClr val="E7F3F1">
                <a:alpha val="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78892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006A63"/>
          </a:solidFill>
          <a:ln w="12700">
            <a:solidFill>
              <a:srgbClr val="006A6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8163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SUPPORT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3474720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25296" y="3401568"/>
            <a:ext cx="4123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endpoint for these two apps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05840" y="3986784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25296" y="3913632"/>
            <a:ext cx="4123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frozen harness and date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05840" y="4498848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25296" y="4425696"/>
            <a:ext cx="4123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Accepted-build time, tokens and cost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05840" y="5010912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25296" y="4937760"/>
            <a:ext cx="4123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human usability and maintainability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36208" y="246888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FFF2EA"/>
          </a:solidFill>
          <a:ln w="12700">
            <a:solidFill>
              <a:srgbClr val="FFF2EA">
                <a:alpha val="0"/>
              </a:srgbClr>
            </a:solidFill>
            <a:prstDash val="solid"/>
          </a:ln>
          <a:effectLst>
            <a:outerShdw sx="100000" sy="100000" kx="0" ky="0" algn="bl" rotWithShape="0" blurRad="19050" dist="50800" dir="2700000">
              <a:srgbClr val="00353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56248" y="2788920"/>
            <a:ext cx="1645920" cy="292608"/>
          </a:xfrm>
          <a:prstGeom prst="roundRect">
            <a:avLst>
              <a:gd name="adj" fmla="val 50000"/>
            </a:avLst>
          </a:prstGeom>
          <a:solidFill>
            <a:srgbClr val="B15315"/>
          </a:solidFill>
          <a:ln w="12700">
            <a:solidFill>
              <a:srgbClr val="B1531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56248" y="2816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SUPPORT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56248" y="3474720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75704" y="3401568"/>
            <a:ext cx="4123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coding model in general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556248" y="3986784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75704" y="3913632"/>
            <a:ext cx="4123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security certification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56248" y="4498848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75704" y="4425696"/>
            <a:ext cx="4123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endpoint context without verification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56248" y="5010912"/>
            <a:ext cx="109728" cy="109728"/>
          </a:xfrm>
          <a:prstGeom prst="ellipse">
            <a:avLst/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75704" y="4937760"/>
            <a:ext cx="4123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API-vs-local cost equivalence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report §15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C757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end-to-end decision journey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six disconnected demos. Not ten interview answers. One traceable workflow.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331720" y="2770632"/>
            <a:ext cx="292608" cy="347472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423160"/>
            <a:ext cx="868680" cy="868680"/>
          </a:xfrm>
          <a:prstGeom prst="ellipse">
            <a:avLst/>
          </a:prstGeom>
          <a:solidFill>
            <a:srgbClr val="006A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262432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2770632"/>
            <a:ext cx="292608" cy="347472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07792" y="2423160"/>
            <a:ext cx="868680" cy="868680"/>
          </a:xfrm>
          <a:prstGeom prst="ellipse">
            <a:avLst/>
          </a:prstGeom>
          <a:solidFill>
            <a:srgbClr val="006A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07792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867912" y="262432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958584" y="2770632"/>
            <a:ext cx="292608" cy="347472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21224" y="2423160"/>
            <a:ext cx="868680" cy="868680"/>
          </a:xfrm>
          <a:prstGeom prst="ellipse">
            <a:avLst/>
          </a:prstGeom>
          <a:solidFill>
            <a:srgbClr val="006A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21224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181344" y="262432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Freeze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272016" y="2770632"/>
            <a:ext cx="292608" cy="347472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34656" y="2423160"/>
            <a:ext cx="868680" cy="868680"/>
          </a:xfrm>
          <a:prstGeom prst="ellipse">
            <a:avLst/>
          </a:prstGeom>
          <a:solidFill>
            <a:srgbClr val="00353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34656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94776" y="262432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848088" y="2423160"/>
            <a:ext cx="868680" cy="868680"/>
          </a:xfrm>
          <a:prstGeom prst="ellipse">
            <a:avLst/>
          </a:prstGeom>
          <a:solidFill>
            <a:srgbClr val="00353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4808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808208" y="262432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331720" y="4370832"/>
            <a:ext cx="292608" cy="347472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4023360"/>
            <a:ext cx="868680" cy="868680"/>
          </a:xfrm>
          <a:prstGeom prst="ellipse">
            <a:avLst/>
          </a:prstGeom>
          <a:solidFill>
            <a:srgbClr val="00353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42519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554480" y="422452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645152" y="4370832"/>
            <a:ext cx="292608" cy="347472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07792" y="4023360"/>
            <a:ext cx="868680" cy="868680"/>
          </a:xfrm>
          <a:prstGeom prst="ellipse">
            <a:avLst/>
          </a:prstGeom>
          <a:solidFill>
            <a:srgbClr val="00353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07792" y="42519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867912" y="422452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test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958584" y="4370832"/>
            <a:ext cx="292608" cy="347472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221224" y="4023360"/>
            <a:ext cx="868680" cy="868680"/>
          </a:xfrm>
          <a:prstGeom prst="ellipse">
            <a:avLst/>
          </a:prstGeom>
          <a:solidFill>
            <a:srgbClr val="00353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21224" y="42519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181344" y="422452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72016" y="4370832"/>
            <a:ext cx="292608" cy="347472"/>
          </a:xfrm>
          <a:prstGeom prst="chevron">
            <a:avLst/>
          </a:prstGeom>
          <a:solidFill>
            <a:srgbClr val="CECECE"/>
          </a:solidFill>
          <a:ln w="12700">
            <a:solidFill>
              <a:srgbClr val="CECEC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34656" y="4023360"/>
            <a:ext cx="868680" cy="868680"/>
          </a:xfrm>
          <a:prstGeom prst="ellipse">
            <a:avLst/>
          </a:prstGeom>
          <a:solidFill>
            <a:srgbClr val="006A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534656" y="42519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494776" y="422452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848088" y="4023360"/>
            <a:ext cx="868680" cy="868680"/>
          </a:xfrm>
          <a:prstGeom prst="ellipse">
            <a:avLst/>
          </a:prstGeom>
          <a:solidFill>
            <a:srgbClr val="E6762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848088" y="42519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808208" y="422452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685800" y="5623560"/>
            <a:ext cx="10972800" cy="530352"/>
          </a:xfrm>
          <a:prstGeom prst="roundRect">
            <a:avLst>
              <a:gd name="adj" fmla="val 13793"/>
            </a:avLst>
          </a:prstGeom>
          <a:solidFill>
            <a:srgbClr val="003531"/>
          </a:solidFill>
          <a:ln w="12700">
            <a:solidFill>
              <a:srgbClr val="003531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577900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is evidence inside Stage 7. It is not the case study.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report §16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C757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evidence pack. Then choose.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7EA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makes the decision reproducible — and makes unsupported confidence visible.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423160"/>
            <a:ext cx="2450592" cy="2377440"/>
          </a:xfrm>
          <a:prstGeom prst="roundRect">
            <a:avLst>
              <a:gd name="adj" fmla="val 307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706624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41832" y="3246120"/>
            <a:ext cx="190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Reconfirm endpoint metadata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41832" y="406908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IDs · limits · capability flags · prices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02152" y="2423160"/>
            <a:ext cx="2450592" cy="2377440"/>
          </a:xfrm>
          <a:prstGeom prst="roundRect">
            <a:avLst>
              <a:gd name="adj" fmla="val 307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2706624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758184" y="3246120"/>
            <a:ext cx="190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18 controlled runs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58184" y="406908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endpoints × 2 apps × 3 runs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18504" y="2423160"/>
            <a:ext cx="2450592" cy="2377440"/>
          </a:xfrm>
          <a:prstGeom prst="roundRect">
            <a:avLst>
              <a:gd name="adj" fmla="val 307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74536" y="2706624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74536" y="3246120"/>
            <a:ext cx="190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human evidence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74536" y="406908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anonymised cross-review + anchored rubric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34856" y="2423160"/>
            <a:ext cx="2450592" cy="2377440"/>
          </a:xfrm>
          <a:prstGeom prst="roundRect">
            <a:avLst>
              <a:gd name="adj" fmla="val 307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90888" y="2706624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A3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90888" y="3246120"/>
            <a:ext cx="190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gates and score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90888" y="406908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55 / 30 + accepted-build efficiency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46120" y="5230368"/>
            <a:ext cx="5669280" cy="292608"/>
          </a:xfrm>
          <a:prstGeom prst="roundRect">
            <a:avLst>
              <a:gd name="adj" fmla="val 50000"/>
            </a:avLst>
          </a:prstGeom>
          <a:solidFill>
            <a:srgbClr val="E6762D"/>
          </a:solidFill>
          <a:ln w="12700">
            <a:solidFill>
              <a:srgbClr val="E6762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46120" y="5257800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STATUS · PENDING MEASURED EVIDENCE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58064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7EA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+ deck + reproducible generators are versioned in the repository.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B7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document: docs/reports/ai-vibe-coding-model-comparison-test-report-v4.docx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B7DCD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669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932688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sources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66420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model cards, provider metadata and current quality standards.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331720"/>
            <a:ext cx="5166360" cy="566928"/>
          </a:xfrm>
          <a:prstGeom prst="roundRect">
            <a:avLst>
              <a:gd name="adj" fmla="val 12903"/>
            </a:avLst>
          </a:prstGeom>
          <a:solidFill>
            <a:srgbClr val="E7F3F1"/>
          </a:solidFill>
          <a:ln w="12700">
            <a:solidFill>
              <a:srgbClr val="CECECE">
                <a:alpha val="3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4414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 Flash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880360" y="24414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huggingface.co/deepseek-ai/DeepSeek-V4-Flash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3044952"/>
            <a:ext cx="51663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ECECE">
                <a:alpha val="3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315468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 Pro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80360" y="31546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huggingface.co/deepseek-ai/DeepSeek-V4-Pro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3758184"/>
            <a:ext cx="5166360" cy="566928"/>
          </a:xfrm>
          <a:prstGeom prst="roundRect">
            <a:avLst>
              <a:gd name="adj" fmla="val 12903"/>
            </a:avLst>
          </a:prstGeom>
          <a:solidFill>
            <a:srgbClr val="E7F3F1"/>
          </a:solidFill>
          <a:ln w="12700">
            <a:solidFill>
              <a:srgbClr val="CECECE">
                <a:alpha val="3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3867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Qwen3.5-9B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880360" y="3867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huggingface.co/Qwen/Qwen3.5-9B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4471416"/>
            <a:ext cx="51663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ECECE">
                <a:alpha val="3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" y="458114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Qwen3.5-35B-A3B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80360" y="45811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huggingface.co/Qwen/Qwen3.5-35B-A3B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5800" y="5184648"/>
            <a:ext cx="5166360" cy="566928"/>
          </a:xfrm>
          <a:prstGeom prst="roundRect">
            <a:avLst>
              <a:gd name="adj" fmla="val 12903"/>
            </a:avLst>
          </a:prstGeom>
          <a:solidFill>
            <a:srgbClr val="E7F3F1"/>
          </a:solidFill>
          <a:ln w="12700">
            <a:solidFill>
              <a:srgbClr val="CECECE">
                <a:alpha val="3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29437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catalogue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80360" y="52943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api.pioneer.ai/v1/models · authenticated capture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355080" y="2331720"/>
            <a:ext cx="5166360" cy="566928"/>
          </a:xfrm>
          <a:prstGeom prst="roundRect">
            <a:avLst>
              <a:gd name="adj" fmla="val 12903"/>
            </a:avLst>
          </a:prstGeom>
          <a:solidFill>
            <a:srgbClr val="E7F3F1"/>
          </a:solidFill>
          <a:ln w="12700">
            <a:solidFill>
              <a:srgbClr val="CECECE">
                <a:alpha val="3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56248" y="24414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ISO/IEC 25010:2023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549640" y="24414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iso.org/standard/78176.html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355080" y="3044952"/>
            <a:ext cx="51663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ECECE">
                <a:alpha val="3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56248" y="315468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WCAG 2.2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549640" y="31546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w3.org/TR/WCAG22/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55080" y="3758184"/>
            <a:ext cx="5166360" cy="566928"/>
          </a:xfrm>
          <a:prstGeom prst="roundRect">
            <a:avLst>
              <a:gd name="adj" fmla="val 12903"/>
            </a:avLst>
          </a:prstGeom>
          <a:solidFill>
            <a:srgbClr val="E7F3F1"/>
          </a:solidFill>
          <a:ln w="12700">
            <a:solidFill>
              <a:srgbClr val="CECECE">
                <a:alpha val="3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56248" y="3867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Web Vitals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549640" y="3867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web.dev/articles/vitals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55080" y="4471416"/>
            <a:ext cx="51663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ECECE">
                <a:alpha val="3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56248" y="458114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ASVS 5.0.0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549640" y="45811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owasp.org/www-project-application-security-verification-standard/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355080" y="5184648"/>
            <a:ext cx="5166360" cy="566928"/>
          </a:xfrm>
          <a:prstGeom prst="roundRect">
            <a:avLst>
              <a:gd name="adj" fmla="val 12903"/>
            </a:avLst>
          </a:prstGeom>
          <a:solidFill>
            <a:srgbClr val="E7F3F1"/>
          </a:solidFill>
          <a:ln w="12700">
            <a:solidFill>
              <a:srgbClr val="CECECE">
                <a:alpha val="35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56248" y="529437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35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citations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549640" y="52943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report §18 · accessed 2026-08-17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5800" y="6053328"/>
            <a:ext cx="10835640" cy="320040"/>
          </a:xfrm>
          <a:prstGeom prst="roundRect">
            <a:avLst>
              <a:gd name="adj" fmla="val 22857"/>
            </a:avLst>
          </a:prstGeom>
          <a:solidFill>
            <a:srgbClr val="FFF2EA"/>
          </a:solidFill>
          <a:ln w="12700">
            <a:solidFill>
              <a:srgbClr val="FFF2EA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6135624"/>
            <a:ext cx="10378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15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simulated V3 score, test pass rate, elapsed time, token total, cost or user quote is carried into V4.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94360" y="644652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date: 2026-08-17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73952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C757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Asia Allied Corporate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Vibe Coding Model Comparison — V4 Deck</dc:title>
  <dc:subject>Version 4 research-backed AI vibe-coding model evaluation</dc:subject>
  <dc:creator>Internal AI Model Evaluation Team</dc:creator>
  <cp:lastModifiedBy>Internal AI Model Evaluation Team</cp:lastModifiedBy>
  <cp:revision>1</cp:revision>
  <dcterms:created xsi:type="dcterms:W3CDTF">2026-08-17T09:43:51Z</dcterms:created>
  <dcterms:modified xsi:type="dcterms:W3CDTF">2026-08-17T09:43:51Z</dcterms:modified>
</cp:coreProperties>
</file>