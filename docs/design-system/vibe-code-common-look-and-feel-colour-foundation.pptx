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presentation defines the colour foundation of the Vibe Code Common Look &amp; Feel. It does not claim to define the complete design system. Screenshot is a live capture of the public English homepage.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Pixel counts: #F7941D 886; #7B7A1B 823; #231F20 13,371. Source image natural size 422x46.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siaalliedgroup.com/en" TargetMode="External"/><Relationship Id="rId4" Type="http://schemas.openxmlformats.org/officeDocument/2006/relationships/hyperlink" Target="https://www.asiaalliedgroup.com/en/contact-us" TargetMode="External"/><Relationship Id="rId6" Type="http://schemas.openxmlformats.org/officeDocument/2006/relationships/hyperlink" Target="https://www.asiaalliedgroup.com/en/contact-us" TargetMode="External"/><Relationship Id="rId8" Type="http://schemas.openxmlformats.org/officeDocument/2006/relationships/hyperlink" Target="https://www.asiaalliedgroup.com/assets/img/main-logo-1x.png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siaalliedgroup.com/en" TargetMode="External"/><Relationship Id="rId4" Type="http://schemas.openxmlformats.org/officeDocument/2006/relationships/hyperlink" Target="https://www.asiaalliedgroup.com/en/contact-us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siaalliedgroup.com/en/contact-us" TargetMode="Externa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siaalliedgroup.com/en/contact-us" TargetMode="External"/><Relationship Id="rId4" Type="http://schemas.openxmlformats.org/officeDocument/2006/relationships/hyperlink" Target="https://www.asiaalliedgroup.com/en/contact-us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5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ia Allied public website hea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0"/>
            <a:ext cx="49377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003531">
              <a:alpha val="42000"/>
            </a:srgbClr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8229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Code Common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&amp; Feel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12648" y="202996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FOUNDATION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12648" y="263347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website-derived colour system for consistent Vibe Code interfaces.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2648" y="3913632"/>
            <a:ext cx="320040" cy="320040"/>
          </a:xfrm>
          <a:prstGeom prst="ellipse">
            <a:avLst/>
          </a:prstGeom>
          <a:solidFill>
            <a:srgbClr val="006A63"/>
          </a:solidFill>
          <a:ln w="6350">
            <a:solidFill>
              <a:srgbClr val="006A6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97280" y="3913632"/>
            <a:ext cx="320040" cy="320040"/>
          </a:xfrm>
          <a:prstGeom prst="ellipse">
            <a:avLst/>
          </a:prstGeom>
          <a:solidFill>
            <a:srgbClr val="003531"/>
          </a:solidFill>
          <a:ln w="6350">
            <a:solidFill>
              <a:srgbClr val="00353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3913632"/>
            <a:ext cx="320040" cy="320040"/>
          </a:xfrm>
          <a:prstGeom prst="ellipse">
            <a:avLst/>
          </a:prstGeom>
          <a:solidFill>
            <a:srgbClr val="E6762D"/>
          </a:solidFill>
          <a:ln w="6350">
            <a:solidFill>
              <a:srgbClr val="E6762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66544" y="3913632"/>
            <a:ext cx="320040" cy="3200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1176" y="3913632"/>
            <a:ext cx="320040" cy="320040"/>
          </a:xfrm>
          <a:prstGeom prst="ellipse">
            <a:avLst/>
          </a:prstGeom>
          <a:solidFill>
            <a:srgbClr val="6A6A6A"/>
          </a:solidFill>
          <a:ln w="6350">
            <a:solidFill>
              <a:srgbClr val="6A6A6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35808" y="3913632"/>
            <a:ext cx="320040" cy="320040"/>
          </a:xfrm>
          <a:prstGeom prst="ellipse">
            <a:avLst/>
          </a:prstGeom>
          <a:solidFill>
            <a:srgbClr val="CECECE"/>
          </a:solidFill>
          <a:ln w="6350">
            <a:solidFill>
              <a:srgbClr val="CECEC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0440" y="3913632"/>
            <a:ext cx="320040" cy="320040"/>
          </a:xfrm>
          <a:prstGeom prst="ellipse">
            <a:avLst/>
          </a:prstGeom>
          <a:solidFill>
            <a:srgbClr val="F7F7F7"/>
          </a:solidFill>
          <a:ln w="6350">
            <a:solidFill>
              <a:srgbClr val="CECEC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2648" y="44074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website captured 2026-08-22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02920" y="4736592"/>
            <a:ext cx="7818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https://www.asiaalliedgroup.com/en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01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Look &amp; Feel Sources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WEBSITE &amp; OFFICIAL LOGO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4681728"/>
            <a:ext cx="310896" cy="310896"/>
          </a:xfrm>
          <a:prstGeom prst="ellipse">
            <a:avLst/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388620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67512" y="126187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27101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900" dirty="0"/>
          </a:p>
        </p:txBody>
      </p:sp>
      <p:pic>
        <p:nvPicPr>
          <p:cNvPr id="9" name="Image 0" descr="Website screenshot: home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280160"/>
            <a:ext cx="292608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67512" y="2267712"/>
            <a:ext cx="3557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Homepage: green / orange / text</a:t>
            </a:r>
            <a:endParaRPr lang="en-US" sz="900" dirty="0"/>
          </a:p>
        </p:txBody>
      </p:sp>
      <p:sp>
        <p:nvSpPr>
          <p:cNvPr id="11" name="Text 8">
            <a:hlinkClick r:id="rId2" tooltip=""/>
          </p:cNvPr>
          <p:cNvSpPr/>
          <p:nvPr/>
        </p:nvSpPr>
        <p:spPr>
          <a:xfrm>
            <a:off x="667512" y="2423160"/>
            <a:ext cx="3557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006A6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4617720" y="1115568"/>
            <a:ext cx="40233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82312" y="126187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82312" y="127101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pic>
        <p:nvPicPr>
          <p:cNvPr id="15" name="Image 1" descr="Website screenshot: contact-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280160"/>
            <a:ext cx="3063240" cy="9144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82312" y="2267712"/>
            <a:ext cx="3694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form: orange / F7F7F7 / text</a:t>
            </a:r>
            <a:endParaRPr lang="en-US" sz="900" dirty="0"/>
          </a:p>
        </p:txBody>
      </p:sp>
      <p:sp>
        <p:nvSpPr>
          <p:cNvPr id="17" name="Text 13">
            <a:hlinkClick r:id="rId4" tooltip=""/>
          </p:cNvPr>
          <p:cNvSpPr/>
          <p:nvPr/>
        </p:nvSpPr>
        <p:spPr>
          <a:xfrm>
            <a:off x="4782312" y="2423160"/>
            <a:ext cx="36941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006A6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https://www.asiaalliedgroup.com/en/contact-us</a:t>
            </a:r>
            <a:endParaRPr lang="en-US" sz="650" dirty="0"/>
          </a:p>
        </p:txBody>
      </p:sp>
      <p:sp>
        <p:nvSpPr>
          <p:cNvPr id="18" name="Shape 14"/>
          <p:cNvSpPr/>
          <p:nvPr/>
        </p:nvSpPr>
        <p:spPr>
          <a:xfrm>
            <a:off x="502920" y="2779776"/>
            <a:ext cx="3886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67512" y="2926080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67512" y="2935224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900" dirty="0"/>
          </a:p>
        </p:txBody>
      </p:sp>
      <p:pic>
        <p:nvPicPr>
          <p:cNvPr id="21" name="Image 2" descr="Website screenshot: contact-header-dropdow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2944368"/>
            <a:ext cx="2926080" cy="8229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" y="3840480"/>
            <a:ext cx="3557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hover: 003531 + E6762D</a:t>
            </a:r>
            <a:endParaRPr lang="en-US" sz="900" dirty="0"/>
          </a:p>
        </p:txBody>
      </p:sp>
      <p:sp>
        <p:nvSpPr>
          <p:cNvPr id="23" name="Text 18">
            <a:hlinkClick r:id="rId6" tooltip=""/>
          </p:cNvPr>
          <p:cNvSpPr/>
          <p:nvPr/>
        </p:nvSpPr>
        <p:spPr>
          <a:xfrm>
            <a:off x="667512" y="3995928"/>
            <a:ext cx="3557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006A6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https://www.asiaalliedgroup.com/en/contact-us</a:t>
            </a:r>
            <a:endParaRPr lang="en-US" sz="650" dirty="0"/>
          </a:p>
        </p:txBody>
      </p:sp>
      <p:sp>
        <p:nvSpPr>
          <p:cNvPr id="24" name="Shape 19"/>
          <p:cNvSpPr/>
          <p:nvPr/>
        </p:nvSpPr>
        <p:spPr>
          <a:xfrm>
            <a:off x="4617720" y="2779776"/>
            <a:ext cx="402336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782312" y="2926080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7B7A1B"/>
          </a:solidFill>
          <a:ln w="12700">
            <a:solidFill>
              <a:srgbClr val="7B7A1B">
                <a:alpha val="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82312" y="2935224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  <p:pic>
        <p:nvPicPr>
          <p:cNvPr id="27" name="Image 3" descr="Official Asia Allied log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3282696"/>
            <a:ext cx="3621024" cy="38404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782312" y="3840480"/>
            <a:ext cx="3694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logo PNG: 3 artwork colours</a:t>
            </a:r>
            <a:endParaRPr lang="en-US" sz="900" dirty="0"/>
          </a:p>
        </p:txBody>
      </p:sp>
      <p:sp>
        <p:nvSpPr>
          <p:cNvPr id="29" name="Text 23">
            <a:hlinkClick r:id="rId8" tooltip=""/>
          </p:cNvPr>
          <p:cNvSpPr/>
          <p:nvPr/>
        </p:nvSpPr>
        <p:spPr>
          <a:xfrm>
            <a:off x="4782312" y="3995928"/>
            <a:ext cx="36941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006A6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https://www.asiaalliedgroup.com/assets/img/main-logo-1x.png</a:t>
            </a:r>
            <a:endParaRPr lang="en-US" sz="650" dirty="0"/>
          </a:p>
        </p:txBody>
      </p:sp>
      <p:sp>
        <p:nvSpPr>
          <p:cNvPr id="30" name="Text 24"/>
          <p:cNvSpPr/>
          <p:nvPr/>
        </p:nvSpPr>
        <p:spPr>
          <a:xfrm>
            <a:off x="530352" y="431596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1325880" y="4279392"/>
            <a:ext cx="7040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screenshots + computed CSS/DOM establish the colour foundation. Logo colours are checked against exact pixels in the official PNG. Accessibility corrections and product-normalized colours are excluded.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502920" y="4736592"/>
            <a:ext cx="7818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public live pages and official logo asset. Only colours present on the website are included.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01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Look &amp; Feel — Core Greens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BRAND, NAVIGATION &amp; KEY SURFACES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4681728"/>
            <a:ext cx="310896" cy="310896"/>
          </a:xfrm>
          <a:prstGeom prst="ellipse">
            <a:avLst/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pic>
        <p:nvPicPr>
          <p:cNvPr id="6" name="Image 0" descr="Website screenshot: home-brand-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4160520" cy="23957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115568"/>
            <a:ext cx="4160520" cy="23957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225296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23444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900" dirty="0"/>
          </a:p>
        </p:txBody>
      </p:sp>
      <p:sp>
        <p:nvSpPr>
          <p:cNvPr id="10" name="Text 7">
            <a:hlinkClick r:id="rId2" tooltip=""/>
          </p:cNvPr>
          <p:cNvSpPr/>
          <p:nvPr/>
        </p:nvSpPr>
        <p:spPr>
          <a:xfrm>
            <a:off x="612648" y="3310128"/>
            <a:ext cx="3941064" cy="118872"/>
          </a:xfrm>
          <a:prstGeom prst="rect">
            <a:avLst/>
          </a:prstGeom>
          <a:solidFill>
            <a:srgbClr val="003531">
              <a:alpha val="82000"/>
            </a:srgbClr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</a:t>
            </a:r>
            <a:endParaRPr lang="en-US" sz="650" dirty="0"/>
          </a:p>
        </p:txBody>
      </p:sp>
      <p:pic>
        <p:nvPicPr>
          <p:cNvPr id="11" name="Image 1" descr="Website screenshot: contact-header-dropdow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15568"/>
            <a:ext cx="379476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846320" y="1115568"/>
            <a:ext cx="379476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956048" y="1225296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956048" y="123444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900" dirty="0"/>
          </a:p>
        </p:txBody>
      </p:sp>
      <p:sp>
        <p:nvSpPr>
          <p:cNvPr id="15" name="Text 11">
            <a:hlinkClick r:id="rId4" tooltip=""/>
          </p:cNvPr>
          <p:cNvSpPr/>
          <p:nvPr/>
        </p:nvSpPr>
        <p:spPr>
          <a:xfrm>
            <a:off x="4956048" y="2834640"/>
            <a:ext cx="3575304" cy="118872"/>
          </a:xfrm>
          <a:prstGeom prst="rect">
            <a:avLst/>
          </a:prstGeom>
          <a:solidFill>
            <a:srgbClr val="003531">
              <a:alpha val="82000"/>
            </a:srgbClr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https://www.asiaalliedgroup.com/en/contact-us</a:t>
            </a:r>
            <a:endParaRPr lang="en-US" sz="650" dirty="0"/>
          </a:p>
        </p:txBody>
      </p:sp>
      <p:sp>
        <p:nvSpPr>
          <p:cNvPr id="16" name="Shape 12"/>
          <p:cNvSpPr/>
          <p:nvPr/>
        </p:nvSpPr>
        <p:spPr>
          <a:xfrm>
            <a:off x="777240" y="3108960"/>
            <a:ext cx="1874520" cy="329184"/>
          </a:xfrm>
          <a:prstGeom prst="roundRect">
            <a:avLst>
              <a:gd name="adj" fmla="val 11111"/>
            </a:avLst>
          </a:prstGeom>
          <a:solidFill>
            <a:srgbClr val="006A63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0392" y="3163824"/>
            <a:ext cx="1728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#006A63 · report/download panel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577840" y="3108960"/>
            <a:ext cx="1783080" cy="329184"/>
          </a:xfrm>
          <a:prstGeom prst="roundRect">
            <a:avLst>
              <a:gd name="adj" fmla="val 11111"/>
            </a:avLst>
          </a:prstGeom>
          <a:solidFill>
            <a:srgbClr val="00353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50992" y="3163824"/>
            <a:ext cx="1636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#003531 · dropdown surface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3675888"/>
            <a:ext cx="3977640" cy="749808"/>
          </a:xfrm>
          <a:prstGeom prst="roundRect">
            <a:avLst>
              <a:gd name="adj" fmla="val 6098"/>
            </a:avLst>
          </a:prstGeom>
          <a:solidFill>
            <a:srgbClr val="006A63"/>
          </a:solidFill>
          <a:ln w="8890">
            <a:solidFill>
              <a:srgbClr val="006A6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12648" y="3767328"/>
            <a:ext cx="3758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green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12648" y="4041648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#006A63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12648" y="4023360"/>
            <a:ext cx="375818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report panel, tags, search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4663440" y="3675888"/>
            <a:ext cx="3977640" cy="749808"/>
          </a:xfrm>
          <a:prstGeom prst="roundRect">
            <a:avLst>
              <a:gd name="adj" fmla="val 6098"/>
            </a:avLst>
          </a:prstGeom>
          <a:solidFill>
            <a:srgbClr val="003531"/>
          </a:solidFill>
          <a:ln w="8890">
            <a:solidFill>
              <a:srgbClr val="00353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773168" y="3767328"/>
            <a:ext cx="3758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dark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4773168" y="4041648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#003531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773168" y="4023360"/>
            <a:ext cx="375818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hover: .mn__list--2</a:t>
            </a:r>
            <a:endParaRPr lang="en-US" sz="850" dirty="0"/>
          </a:p>
        </p:txBody>
      </p:sp>
      <p:sp>
        <p:nvSpPr>
          <p:cNvPr id="28" name="Text 24"/>
          <p:cNvSpPr/>
          <p:nvPr/>
        </p:nvSpPr>
        <p:spPr>
          <a:xfrm>
            <a:off x="502920" y="4736592"/>
            <a:ext cx="7818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Computed CSS: .fn-itm-blk--green background #006A63 · .mn__list--2 background #003531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01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Look &amp; Feel — Accent &amp; Text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HEADINGS, ACTIONS &amp; BODY COPY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4681728"/>
            <a:ext cx="310896" cy="310896"/>
          </a:xfrm>
          <a:prstGeom prst="ellipse">
            <a:avLst/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Website screenshot: contac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4983480" cy="2724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097280"/>
            <a:ext cx="4983480" cy="2724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207008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216152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sp>
        <p:nvSpPr>
          <p:cNvPr id="10" name="Text 7">
            <a:hlinkClick r:id="rId2" tooltip=""/>
          </p:cNvPr>
          <p:cNvSpPr/>
          <p:nvPr/>
        </p:nvSpPr>
        <p:spPr>
          <a:xfrm>
            <a:off x="612648" y="3621024"/>
            <a:ext cx="4764024" cy="118872"/>
          </a:xfrm>
          <a:prstGeom prst="rect">
            <a:avLst/>
          </a:prstGeom>
          <a:solidFill>
            <a:srgbClr val="003531">
              <a:alpha val="82000"/>
            </a:srgbClr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https://www.asiaalliedgroup.com/en/contact-us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822960" y="1335024"/>
            <a:ext cx="1874520" cy="329184"/>
          </a:xfrm>
          <a:prstGeom prst="roundRect">
            <a:avLst>
              <a:gd name="adj" fmla="val 11111"/>
            </a:avLst>
          </a:prstGeom>
          <a:solidFill>
            <a:srgbClr val="E6762D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6112" y="1389888"/>
            <a:ext cx="1728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 + SUBMIT · #E6762D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291840" y="2148840"/>
            <a:ext cx="1691640" cy="329184"/>
          </a:xfrm>
          <a:prstGeom prst="roundRect">
            <a:avLst>
              <a:gd name="adj" fmla="val 11111"/>
            </a:avLst>
          </a:prstGeom>
          <a:solidFill>
            <a:srgbClr val="333333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64992" y="2203704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Address/body · #333333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715000" y="1188720"/>
            <a:ext cx="2880360" cy="1143000"/>
          </a:xfrm>
          <a:prstGeom prst="roundRect">
            <a:avLst>
              <a:gd name="adj" fmla="val 4000"/>
            </a:avLst>
          </a:prstGeom>
          <a:solidFill>
            <a:srgbClr val="E6762D"/>
          </a:solidFill>
          <a:ln w="8890">
            <a:solidFill>
              <a:srgbClr val="E6762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24728" y="1280160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Accent orange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24728" y="1947672"/>
            <a:ext cx="2660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#E6762D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824728" y="1536192"/>
            <a:ext cx="2660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Headings, buttons, social icons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715000" y="2542032"/>
            <a:ext cx="2880360" cy="1143000"/>
          </a:xfrm>
          <a:prstGeom prst="roundRect">
            <a:avLst>
              <a:gd name="adj" fmla="val 4000"/>
            </a:avLst>
          </a:prstGeom>
          <a:solidFill>
            <a:srgbClr val="333333"/>
          </a:solidFill>
          <a:ln w="889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24728" y="263347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text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824728" y="3300984"/>
            <a:ext cx="2660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#333333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824728" y="2889504"/>
            <a:ext cx="2660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copy and labels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715000" y="3877056"/>
            <a:ext cx="28803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870448" y="4023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Computed: .contact-bottom__title / .form-btn.btn--orange / body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02920" y="4736592"/>
            <a:ext cx="7818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source: https://www.asiaalliedgroup.com/en/contact-us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01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Look &amp; Feel — Neutral Surfaces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HIERARCHY, INPUTS, CANVAS &amp; FOOTER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4681728"/>
            <a:ext cx="310896" cy="310896"/>
          </a:xfrm>
          <a:prstGeom prst="ellipse">
            <a:avLst/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Website screenshot: contac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8992"/>
            <a:ext cx="4160520" cy="2276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078992"/>
            <a:ext cx="4160520" cy="22768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188720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197864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sp>
        <p:nvSpPr>
          <p:cNvPr id="10" name="Text 7">
            <a:hlinkClick r:id="rId2" tooltip=""/>
          </p:cNvPr>
          <p:cNvSpPr/>
          <p:nvPr/>
        </p:nvSpPr>
        <p:spPr>
          <a:xfrm>
            <a:off x="612648" y="3154680"/>
            <a:ext cx="3941064" cy="118872"/>
          </a:xfrm>
          <a:prstGeom prst="rect">
            <a:avLst/>
          </a:prstGeom>
          <a:solidFill>
            <a:srgbClr val="003531">
              <a:alpha val="82000"/>
            </a:srgbClr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https://www.asiaalliedgroup.com/en/contact-us</a:t>
            </a:r>
            <a:endParaRPr lang="en-US" sz="650" dirty="0"/>
          </a:p>
        </p:txBody>
      </p:sp>
      <p:pic>
        <p:nvPicPr>
          <p:cNvPr id="11" name="Image 1" descr="Website screenshot: contact-foo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78992"/>
            <a:ext cx="3794760" cy="179222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846320" y="1078992"/>
            <a:ext cx="3794760" cy="179222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956048" y="1188720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956048" y="1197864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sp>
        <p:nvSpPr>
          <p:cNvPr id="15" name="Text 11">
            <a:hlinkClick r:id="rId4" tooltip=""/>
          </p:cNvPr>
          <p:cNvSpPr/>
          <p:nvPr/>
        </p:nvSpPr>
        <p:spPr>
          <a:xfrm>
            <a:off x="4956048" y="2670048"/>
            <a:ext cx="3575304" cy="118872"/>
          </a:xfrm>
          <a:prstGeom prst="rect">
            <a:avLst/>
          </a:prstGeom>
          <a:solidFill>
            <a:srgbClr val="003531">
              <a:alpha val="82000"/>
            </a:srgbClr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6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https://www.asiaalliedgroup.com/en/contact-us</a:t>
            </a:r>
            <a:endParaRPr lang="en-US" sz="650" dirty="0"/>
          </a:p>
        </p:txBody>
      </p:sp>
      <p:sp>
        <p:nvSpPr>
          <p:cNvPr id="16" name="Shape 12"/>
          <p:cNvSpPr/>
          <p:nvPr/>
        </p:nvSpPr>
        <p:spPr>
          <a:xfrm>
            <a:off x="1005840" y="2770632"/>
            <a:ext cx="1600200" cy="329184"/>
          </a:xfrm>
          <a:prstGeom prst="roundRect">
            <a:avLst>
              <a:gd name="adj" fmla="val 11111"/>
            </a:avLst>
          </a:prstGeom>
          <a:solidFill>
            <a:srgbClr val="6A6A6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078992" y="2825496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fields · #F7F7F7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623560" y="2276856"/>
            <a:ext cx="1783080" cy="329184"/>
          </a:xfrm>
          <a:prstGeom prst="roundRect">
            <a:avLst>
              <a:gd name="adj" fmla="val 11111"/>
            </a:avLst>
          </a:prstGeom>
          <a:solidFill>
            <a:srgbClr val="333333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96712" y="2331720"/>
            <a:ext cx="1636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Footer surface · #CECECE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3584448"/>
            <a:ext cx="1865376" cy="822960"/>
          </a:xfrm>
          <a:prstGeom prst="roundRect">
            <a:avLst>
              <a:gd name="adj" fmla="val 5556"/>
            </a:avLst>
          </a:prstGeom>
          <a:solidFill>
            <a:srgbClr val="6A6A6A"/>
          </a:solidFill>
          <a:ln w="8890">
            <a:solidFill>
              <a:srgbClr val="6A6A6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12648" y="36758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text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12648" y="4023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#6A6A6A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12648" y="393192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Footer links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2578608" y="3584448"/>
            <a:ext cx="1865376" cy="822960"/>
          </a:xfrm>
          <a:prstGeom prst="roundRect">
            <a:avLst>
              <a:gd name="adj" fmla="val 5556"/>
            </a:avLst>
          </a:prstGeom>
          <a:solidFill>
            <a:srgbClr val="CECECE"/>
          </a:solidFill>
          <a:ln w="8890">
            <a:solidFill>
              <a:srgbClr val="CECECE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688336" y="36758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 / footer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2688336" y="4023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#CECECE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2688336" y="393192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Footer + back-to-top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4654296" y="3584448"/>
            <a:ext cx="1865376" cy="822960"/>
          </a:xfrm>
          <a:prstGeom prst="roundRect">
            <a:avLst>
              <a:gd name="adj" fmla="val 5556"/>
            </a:avLst>
          </a:prstGeom>
          <a:solidFill>
            <a:srgbClr val="F7F7F7"/>
          </a:solidFill>
          <a:ln w="8890">
            <a:solidFill>
              <a:srgbClr val="F7F7F7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64024" y="36758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Subtle surface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764024" y="4023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#F7F7F7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4764024" y="393192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fields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6729984" y="3584448"/>
            <a:ext cx="1865376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8890">
            <a:solidFill>
              <a:srgbClr val="CECECE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839712" y="36758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 surface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839712" y="4023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#FFFFFF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839712" y="393192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/ content canvas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502920" y="4736592"/>
            <a:ext cx="7818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Computed: .sl__link--2 #6A6A6A · footer #CECECE · .form-control #F7F7F7 · header #FFFFFF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01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Asset Colours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REFERENCE — NOT GENERAL UI TOKENS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4681728"/>
            <a:ext cx="310896" cy="310896"/>
          </a:xfrm>
          <a:prstGeom prst="ellipse">
            <a:avLst/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pic>
        <p:nvPicPr>
          <p:cNvPr id="7" name="Image 0" descr="Official Asia Allied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481328"/>
            <a:ext cx="7168896" cy="777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325880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7B7A1B"/>
          </a:solidFill>
          <a:ln w="12700">
            <a:solidFill>
              <a:srgbClr val="7B7A1B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1335024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2834640"/>
            <a:ext cx="2240280" cy="1078992"/>
          </a:xfrm>
          <a:prstGeom prst="roundRect">
            <a:avLst>
              <a:gd name="adj" fmla="val 4237"/>
            </a:avLst>
          </a:prstGeom>
          <a:solidFill>
            <a:srgbClr val="F7941D"/>
          </a:solidFill>
          <a:ln w="8890">
            <a:solidFill>
              <a:srgbClr val="F7941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2926080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orange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12648" y="3529584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#F7941D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12648" y="3182112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886 exact pixels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2834640"/>
            <a:ext cx="2240280" cy="1078992"/>
          </a:xfrm>
          <a:prstGeom prst="roundRect">
            <a:avLst>
              <a:gd name="adj" fmla="val 4237"/>
            </a:avLst>
          </a:prstGeom>
          <a:solidFill>
            <a:srgbClr val="7B7A1B"/>
          </a:solidFill>
          <a:ln w="8890">
            <a:solidFill>
              <a:srgbClr val="7B7A1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55848" y="2926080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olive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355848" y="3529584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#7B7A1B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355848" y="3182112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823 exact pixels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989320" y="2834640"/>
            <a:ext cx="2240280" cy="1078992"/>
          </a:xfrm>
          <a:prstGeom prst="roundRect">
            <a:avLst>
              <a:gd name="adj" fmla="val 4237"/>
            </a:avLst>
          </a:prstGeom>
          <a:solidFill>
            <a:srgbClr val="231F20"/>
          </a:solidFill>
          <a:ln w="8890">
            <a:solidFill>
              <a:srgbClr val="231F2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99048" y="2926080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black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099048" y="3529584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#231F20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099048" y="3182112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13,371 exact pixels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02920" y="4133088"/>
            <a:ext cx="813816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3232" y="424281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official 422×46 PNG used in the website header. Exact RGB pixel counts are shown. Anti-aliased edge shades are not listed as palette colours.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2920" y="4736592"/>
            <a:ext cx="7818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https://www.asiaalliedgroup.com/assets/img/main-logo-1x.png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01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Code Colour Token Map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→ SOURCE REFERENCE → STANDARD UI ROLE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4681728"/>
            <a:ext cx="310896" cy="310896"/>
          </a:xfrm>
          <a:prstGeom prst="ellipse">
            <a:avLst/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16128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4358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06A63"/>
          </a:solidFill>
          <a:ln w="6350">
            <a:solidFill>
              <a:srgbClr val="006A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24358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#006A63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709928" y="124358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green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0" y="126187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127101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46120" y="123444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panel / tags / search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502920" y="170992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7F7F7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" y="179222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03531"/>
          </a:solidFill>
          <a:ln w="6350">
            <a:solidFill>
              <a:srgbClr val="0035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179222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#003531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709928" y="179222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dark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181051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0" y="181965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46120" y="178308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navigation dropdown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502920" y="225856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" y="234086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E6762D"/>
          </a:solidFill>
          <a:ln w="6350">
            <a:solidFill>
              <a:srgbClr val="E676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234086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#E6762D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709928" y="234086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Accent orange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0" y="235915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36829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S2/S3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46120" y="233172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 / button / dropdown border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02920" y="280720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7F7F7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" y="288950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288950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#333333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709928" y="288950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text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290779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0" y="29169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46120" y="288036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Address, labels, body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502920" y="335584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2648" y="343814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6A6A6A"/>
          </a:solidFill>
          <a:ln w="6350">
            <a:solidFill>
              <a:srgbClr val="6A6A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120" y="343814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#6A6A6A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709928" y="343814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text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0" y="345643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346557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46120" y="342900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Footer level-2 links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502920" y="390448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7F7F7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2648" y="398678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CECECE"/>
          </a:solidFill>
          <a:ln w="6350">
            <a:solidFill>
              <a:srgbClr val="CECEC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" y="398678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#CECECE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709928" y="398678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 / footer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0" y="400507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43200" y="401421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46120" y="397764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Footer + TOP button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4663440" y="116128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773168" y="124358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6350">
            <a:solidFill>
              <a:srgbClr val="F7F7F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124358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#F7F7F7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870448" y="124358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Subtle surface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903720" y="126187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03720" y="127101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406640" y="123444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input / textarea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4663440" y="170992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7F7F7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773168" y="179222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CECEC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0" y="179222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#FFFFFF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870448" y="179222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 surface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903720" y="181051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03720" y="181965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S1/S2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406640" y="178308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/ cards / canvas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4663440" y="225856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4773168" y="234086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F7941D"/>
          </a:solidFill>
          <a:ln w="6350">
            <a:solidFill>
              <a:srgbClr val="F7941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20640" y="234086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#F7941D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870448" y="234086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orange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903720" y="235915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7B7A1B"/>
          </a:solidFill>
          <a:ln w="12700">
            <a:solidFill>
              <a:srgbClr val="7B7A1B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3720" y="236829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406640" y="233172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logo PNG</a:t>
            </a:r>
            <a:endParaRPr lang="en-US" sz="760" dirty="0"/>
          </a:p>
        </p:txBody>
      </p:sp>
      <p:sp>
        <p:nvSpPr>
          <p:cNvPr id="69" name="Shape 67"/>
          <p:cNvSpPr/>
          <p:nvPr/>
        </p:nvSpPr>
        <p:spPr>
          <a:xfrm>
            <a:off x="4663440" y="280720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7F7F7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4773168" y="288950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7B7A1B"/>
          </a:solidFill>
          <a:ln w="6350">
            <a:solidFill>
              <a:srgbClr val="7B7A1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0" y="288950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#7B7A1B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5870448" y="288950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olive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903720" y="290779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7B7A1B"/>
          </a:solidFill>
          <a:ln w="12700">
            <a:solidFill>
              <a:srgbClr val="7B7A1B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903720" y="29169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406640" y="288036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logo PNG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4663440" y="3355848"/>
            <a:ext cx="38862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889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4773168" y="343814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231F20"/>
          </a:solidFill>
          <a:ln w="6350">
            <a:solidFill>
              <a:srgbClr val="231F2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20640" y="3438144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#231F20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5870448" y="343814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black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903720" y="3456432"/>
            <a:ext cx="429768" cy="228600"/>
          </a:xfrm>
          <a:prstGeom prst="roundRect">
            <a:avLst>
              <a:gd name="adj" fmla="val 16000"/>
            </a:avLst>
          </a:prstGeom>
          <a:solidFill>
            <a:srgbClr val="7B7A1B"/>
          </a:solidFill>
          <a:ln w="12700">
            <a:solidFill>
              <a:srgbClr val="7B7A1B">
                <a:alpha val="0"/>
              </a:srgbClr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903720" y="346557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7406640" y="342900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logo PNG</a:t>
            </a:r>
            <a:endParaRPr lang="en-US" sz="760" dirty="0"/>
          </a:p>
        </p:txBody>
      </p:sp>
      <p:sp>
        <p:nvSpPr>
          <p:cNvPr id="83" name="Shape 81"/>
          <p:cNvSpPr/>
          <p:nvPr/>
        </p:nvSpPr>
        <p:spPr>
          <a:xfrm>
            <a:off x="502920" y="4498848"/>
            <a:ext cx="8046720" cy="201168"/>
          </a:xfrm>
          <a:prstGeom prst="roundRect">
            <a:avLst>
              <a:gd name="adj" fmla="val 22727"/>
            </a:avLst>
          </a:prstGeom>
          <a:solidFill>
            <a:srgbClr val="E7F3F1"/>
          </a:solidFill>
          <a:ln w="8890">
            <a:solidFill>
              <a:srgbClr val="E7F3F1"/>
            </a:solidFill>
            <a:prstDash val="solid"/>
          </a:ln>
          <a:effectLst>
            <a:outerShdw sx="100000" sy="100000" kx="0" ky="0" algn="bl" rotWithShape="0" blurRad="12700" dist="50800" dir="2700000">
              <a:srgbClr val="003531">
                <a:alpha val="10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713232" y="4535424"/>
            <a:ext cx="7635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 source colours mapped to references and standard UI roles. S1–S3 = live screenshots; A1 = official website logo asset.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02920" y="4736592"/>
            <a:ext cx="7818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URLs: https://www.asiaalliedgroup.com/en · https://www.asiaalliedgroup.com/en/contact-us · https://www.asiaalliedgroup.com/assets/img/main-logo-1x.png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Asia Allied Infrastructure Holdings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Code Common Look &amp; Feel — Colour Foundation</dc:title>
  <dc:subject>Vibe Code Common Look &amp; Feel colour foundation mapped from the public website</dc:subject>
  <dc:creator>Hermes Agent</dc:creator>
  <cp:lastModifiedBy>Hermes Agent</cp:lastModifiedBy>
  <cp:revision>1</cp:revision>
  <dcterms:created xsi:type="dcterms:W3CDTF">2026-08-24T01:11:01Z</dcterms:created>
  <dcterms:modified xsi:type="dcterms:W3CDTF">2026-08-24T01:11:01Z</dcterms:modified>
</cp:coreProperties>
</file>