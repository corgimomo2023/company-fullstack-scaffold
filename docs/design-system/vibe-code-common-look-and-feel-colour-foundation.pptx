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3531"/>
          </a:solidFill>
          <a:ln>
            <a:solidFill>
              <a:srgbClr val="003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333756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E6762D"/>
                </a:solidFill>
                <a:latin typeface="Arial"/>
              </a:rPr>
              <a:t>COMMON LOOK &amp; FEEL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24712"/>
            <a:ext cx="3337560" cy="11887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Complete UI
Colour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560320"/>
            <a:ext cx="3017520" cy="8046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18 semantic tokens
15 unique values
0 logo artwork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703320"/>
            <a:ext cx="3246120" cy="8686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Each token is mapped to a source screenshot, CSS evidence, accessibility correction or semantic alias.</a:t>
            </a:r>
          </a:p>
        </p:txBody>
      </p:sp>
      <p:pic>
        <p:nvPicPr>
          <p:cNvPr id="8" name="Picture 7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0"/>
            <a:ext cx="7799831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89120" y="6099048"/>
            <a:ext cx="7799831" cy="7589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6263640"/>
            <a:ext cx="347472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Reference S1 · live homepage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6473952"/>
            <a:ext cx="6217920" cy="14630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https://www.asiaalliedgroup.com/en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E6762D"/>
                </a:solidFill>
                <a:latin typeface="Arial"/>
              </a:rPr>
              <a:t>FIVE LIVE IMAGE REFERENCES · NO LOGO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03531"/>
                </a:solidFill>
                <a:latin typeface="Arial"/>
              </a:rPr>
              <a:t>Evidence images and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8832" y="265176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1-0.55-1.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3520440" cy="2011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2761488"/>
            <a:ext cx="3520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816352"/>
            <a:ext cx="330098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S1  Homepage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99232"/>
            <a:ext cx="330098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</a:t>
            </a:r>
          </a:p>
        </p:txBody>
      </p:sp>
      <p:pic>
        <p:nvPicPr>
          <p:cNvPr id="10" name="Picture 9" descr="S2-4.73-1.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188720"/>
            <a:ext cx="3520440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25112" y="2761488"/>
            <a:ext cx="3520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816352"/>
            <a:ext cx="330098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S2  Contact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99232"/>
            <a:ext cx="330098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pic>
        <p:nvPicPr>
          <p:cNvPr id="14" name="Picture 13" descr="S3-8.91-1.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1188720"/>
            <a:ext cx="3520440" cy="2011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147304" y="2761488"/>
            <a:ext cx="3520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2816352"/>
            <a:ext cx="330098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S3  Open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999232"/>
            <a:ext cx="330098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pic>
        <p:nvPicPr>
          <p:cNvPr id="18" name="Picture 17" descr="S4-2.64-4.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016" y="3657600"/>
            <a:ext cx="3520440" cy="20116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414016" y="5230368"/>
            <a:ext cx="3520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5285232"/>
            <a:ext cx="330098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S4  Homepage panels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5468112"/>
            <a:ext cx="330098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</a:t>
            </a:r>
          </a:p>
        </p:txBody>
      </p:sp>
      <p:pic>
        <p:nvPicPr>
          <p:cNvPr id="22" name="Picture 21" descr="S5-6.82-4.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657600"/>
            <a:ext cx="3520440" cy="20116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6208" y="5230368"/>
            <a:ext cx="3520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5285232"/>
            <a:ext cx="330098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S5  Footer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5468112"/>
            <a:ext cx="330098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Arial"/>
              </a:rPr>
              <a:t>CSS = exact public stylesheet evidence · a11y = accessibility-led correction · semantic alias = same value, distinct product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Common Look &amp; Feel · 18 semantic UI tokens · logo artwork colors excluded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653796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6C757D"/>
                </a:solidFill>
                <a:latin typeface="Arial"/>
              </a:rPr>
              <a:t>DESIGN.md is normative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E6762D"/>
                </a:solidFill>
                <a:latin typeface="Arial"/>
              </a:rPr>
              <a:t>STRUCTURE, NAVIGATION AND PRESSED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03531"/>
                </a:solidFill>
                <a:latin typeface="Arial"/>
              </a:rPr>
              <a:t>Core green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8832" y="265176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1-0.55-1.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3429000" cy="19385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S1  Homepage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</a:t>
            </a:r>
          </a:p>
        </p:txBody>
      </p:sp>
      <p:pic>
        <p:nvPicPr>
          <p:cNvPr id="10" name="Picture 9" descr="S3-4.6-1.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70432"/>
            <a:ext cx="3429000" cy="19385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0624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S3  Open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170432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7" y="1289304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8" y="1261872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1472184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#006A63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2" y="1444752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Primary actions, links,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1243584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S1/CSS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103120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0727" y="2221991"/>
            <a:ext cx="512064" cy="512064"/>
          </a:xfrm>
          <a:prstGeom prst="roundRect">
            <a:avLst/>
          </a:prstGeom>
          <a:solidFill>
            <a:srgbClr val="003531"/>
          </a:solidFill>
          <a:ln>
            <a:solidFill>
              <a:srgbClr val="003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8" y="2194560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primary-dark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40487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#003531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377439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Hover, pressed framing,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217627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S3/CSS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035808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10727" y="3154680"/>
            <a:ext cx="512064" cy="512064"/>
          </a:xfrm>
          <a:prstGeom prst="roundRect">
            <a:avLst/>
          </a:prstGeom>
          <a:solidFill>
            <a:srgbClr val="001C19"/>
          </a:solidFill>
          <a:ln>
            <a:solidFill>
              <a:srgbClr val="001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0808" y="3127248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primary-active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333756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#001C19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310128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Pressed state, stronger separation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2" y="3108960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Common Look &amp; Feel · 18 semantic UI tokens · logo artwork colors excluded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653796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6C757D"/>
                </a:solidFill>
                <a:latin typeface="Arial"/>
              </a:rPr>
              <a:t>DESIGN.md is normative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E6762D"/>
                </a:solidFill>
                <a:latin typeface="Arial"/>
              </a:rPr>
              <a:t>RAW ORANGE, ACCESSIBLE ORANGE AND SELECTED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03531"/>
                </a:solidFill>
                <a:latin typeface="Arial"/>
              </a:rPr>
              <a:t>Accent and contrast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8832" y="265176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2-0.55-1.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3429000" cy="19385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S2  Contact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pic>
        <p:nvPicPr>
          <p:cNvPr id="10" name="Picture 9" descr="S3-4.6-1.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70432"/>
            <a:ext cx="3429000" cy="19385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0624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S3  Open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170432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7" y="1289304"/>
            <a:ext cx="512064" cy="512064"/>
          </a:xfrm>
          <a:prstGeom prst="roundRect">
            <a:avLst/>
          </a:prstGeom>
          <a:solidFill>
            <a:srgbClr val="E6762D"/>
          </a:solidFill>
          <a:ln>
            <a:solidFill>
              <a:srgbClr val="E6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8" y="1261872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accent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1472184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#E6762D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2" y="1444752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Large headings, charts, decoration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1243584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S2/S3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103120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0727" y="2221991"/>
            <a:ext cx="512064" cy="512064"/>
          </a:xfrm>
          <a:prstGeom prst="roundRect">
            <a:avLst/>
          </a:prstGeom>
          <a:solidFill>
            <a:srgbClr val="B15315"/>
          </a:solidFill>
          <a:ln>
            <a:solidFill>
              <a:srgbClr val="B15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8" y="2194560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accent-accessible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40487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#B15315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377439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Normal white-text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217627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CSS/a11y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035808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10727" y="3154680"/>
            <a:ext cx="512064" cy="512064"/>
          </a:xfrm>
          <a:prstGeom prst="roundRect">
            <a:avLst/>
          </a:prstGeom>
          <a:solidFill>
            <a:srgbClr val="733208"/>
          </a:solidFill>
          <a:ln>
            <a:solidFill>
              <a:srgbClr val="733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0808" y="3127248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accent-selected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333756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#733208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310128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Selected accent state with white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2" y="3108960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CSS/a11y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3968496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10727" y="4087368"/>
            <a:ext cx="512064" cy="512064"/>
          </a:xfrm>
          <a:prstGeom prst="roundRect">
            <a:avLst/>
          </a:prstGeom>
          <a:solidFill>
            <a:srgbClr val="001C19"/>
          </a:solidFill>
          <a:ln>
            <a:solidFill>
              <a:srgbClr val="001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8" y="4059935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text-on-accent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4270248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#001C19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632" y="4242816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Dark text on raw accent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4041648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contrast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Common Look &amp; Feel · 18 semantic UI tokens · logo artwork colors excluded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653796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6C757D"/>
                </a:solidFill>
                <a:latin typeface="Arial"/>
              </a:rPr>
              <a:t>DESIGN.md is normative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E6762D"/>
                </a:solidFill>
                <a:latin typeface="Arial"/>
              </a:rPr>
              <a:t>PRIMARY COPY AND SECONDARY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03531"/>
                </a:solidFill>
                <a:latin typeface="Arial"/>
              </a:rPr>
              <a:t>Text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8832" y="265176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2-0.55-1.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3429000" cy="19385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S2  Contact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pic>
        <p:nvPicPr>
          <p:cNvPr id="10" name="Picture 9" descr="S5-4.6-1.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70432"/>
            <a:ext cx="3429000" cy="19385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0624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S5  Footer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170432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7" y="1289304"/>
            <a:ext cx="512064" cy="512064"/>
          </a:xfrm>
          <a:prstGeom prst="round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8" y="1261872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1472184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#333333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2" y="1444752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Primary body and UI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1243584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S2/CSS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103120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0727" y="2221991"/>
            <a:ext cx="512064" cy="512064"/>
          </a:xfrm>
          <a:prstGeom prst="roundRect">
            <a:avLst/>
          </a:prstGeom>
          <a:solidFill>
            <a:srgbClr val="6C757D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8" y="2194560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text-muted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40487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#6C757D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377439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Secondary metadata on white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217627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Common Look &amp; Feel · 18 semantic UI tokens · logo artwork colors excluded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53796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6C757D"/>
                </a:solidFill>
                <a:latin typeface="Arial"/>
              </a:rPr>
              <a:t>DESIGN.md is normative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E6762D"/>
                </a:solidFill>
                <a:latin typeface="Arial"/>
              </a:rPr>
              <a:t>CANVAS, DISABLED AND STRUCTURAL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03531"/>
                </a:solidFill>
                <a:latin typeface="Arial"/>
              </a:rPr>
              <a:t>Surfaces, borders and table tint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8832" y="265176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2-0.55-1.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3429000" cy="19385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S2  Contact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pic>
        <p:nvPicPr>
          <p:cNvPr id="10" name="Picture 9" descr="S5-4.6-1.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70432"/>
            <a:ext cx="3429000" cy="19385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0624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S5  Footer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170432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7" y="1289304"/>
            <a:ext cx="512064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8" y="1261872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1472184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#FFFFFF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2" y="1444752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Main surface and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1243584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S1/S2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103120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0727" y="2221991"/>
            <a:ext cx="512064" cy="512064"/>
          </a:xfrm>
          <a:prstGeom prst="round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8" y="2194560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surface-subtle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40487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#F7F7F7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377439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Page canvas, alternate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217627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S2/CSS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035808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10727" y="3154680"/>
            <a:ext cx="512064" cy="512064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0808" y="3127248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surface-muted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333756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#ECECEC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310128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Muted structural regions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2" y="3108960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3968496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10727" y="4087368"/>
            <a:ext cx="512064" cy="512064"/>
          </a:xfrm>
          <a:prstGeom prst="roundRect">
            <a:avLst/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8" y="4059935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surface-disabled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4270248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#EAEAEA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632" y="4242816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Disabled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4041648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4901184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10727" y="5020056"/>
            <a:ext cx="512064" cy="512064"/>
          </a:xfrm>
          <a:prstGeom prst="roundRect">
            <a:avLst/>
          </a:prstGeom>
          <a:solidFill>
            <a:srgbClr val="CECECE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0808" y="4992624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border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0808" y="5202936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#CECECE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28632" y="5175504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Dividers and boundaries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71632" y="4974336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S5/CSS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5833872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10727" y="5952744"/>
            <a:ext cx="512064" cy="512064"/>
          </a:xfrm>
          <a:prstGeom prst="roundRect">
            <a:avLst/>
          </a:prstGeom>
          <a:solidFill>
            <a:srgbClr val="FFF2EA"/>
          </a:solidFill>
          <a:ln>
            <a:solidFill>
              <a:srgbClr val="FF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50808" y="5925312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table-header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0808" y="6135624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#FFF2EA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632" y="6108192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Warm table/list header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71632" y="5907024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Common Look &amp; Feel · 18 semantic UI tokens · logo artwork colors excluded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653796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6C757D"/>
                </a:solidFill>
                <a:latin typeface="Arial"/>
              </a:rPr>
              <a:t>DESIGN.md is normative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E6762D"/>
                </a:solidFill>
                <a:latin typeface="Arial"/>
              </a:rPr>
              <a:t>STATE TOKENS ALWAYS PAIR WITH VISIBLE TEXT OR 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03531"/>
                </a:solidFill>
                <a:latin typeface="Arial"/>
              </a:rPr>
              <a:t>Focus and semantic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8832" y="265176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1-0.55-1.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3429000" cy="19385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S1  Homepage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</a:t>
            </a:r>
          </a:p>
        </p:txBody>
      </p:sp>
      <p:pic>
        <p:nvPicPr>
          <p:cNvPr id="10" name="Picture 9" descr="S2-0.55-1.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70432"/>
            <a:ext cx="3429000" cy="19385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06240" y="2670048"/>
            <a:ext cx="3429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2724912"/>
            <a:ext cx="3209544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3531"/>
                </a:solidFill>
                <a:latin typeface="Arial"/>
              </a:rPr>
              <a:t>S2  Contact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907792"/>
            <a:ext cx="3209544" cy="1371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6C757D"/>
                </a:solidFill>
                <a:latin typeface="Arial"/>
              </a:rPr>
              <a:t>https://www.asiaalliedgroup.com/en/contact-us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170432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7" y="1289304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8" y="1261872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1472184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#006A63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2" y="1444752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Existing focus indication 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1243584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semantic alias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103120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0727" y="2221991"/>
            <a:ext cx="512064" cy="512064"/>
          </a:xfrm>
          <a:prstGeom prst="round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8" y="2194560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danger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40487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#DC3545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377439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Error/destructive text and borders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217627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035808"/>
            <a:ext cx="34290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10727" y="3154680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0808" y="3127248"/>
            <a:ext cx="2514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333756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#006A63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310128"/>
            <a:ext cx="1600200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Positive states with label/icon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2" y="3108960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semantic alias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Common Look &amp; Feel · 18 semantic UI tokens · logo artwork colors excluded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653796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6C757D"/>
                </a:solidFill>
                <a:latin typeface="Arial"/>
              </a:rPr>
              <a:t>DESIGN.md is normative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E6762D"/>
                </a:solidFill>
                <a:latin typeface="Arial"/>
              </a:rPr>
              <a:t>TOKEN → VALUE → ROLE → EVIDENCE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03531"/>
                </a:solidFill>
                <a:latin typeface="Arial"/>
              </a:rPr>
              <a:t>Complete 18-token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8832" y="265176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" y="1261872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1234440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44475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#006A63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1417320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Primary actions, links,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21615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S1/CSS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75104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" y="2093976"/>
            <a:ext cx="512064" cy="512064"/>
          </a:xfrm>
          <a:prstGeom prst="roundRect">
            <a:avLst/>
          </a:prstGeom>
          <a:solidFill>
            <a:srgbClr val="003531"/>
          </a:solidFill>
          <a:ln>
            <a:solidFill>
              <a:srgbClr val="003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2066544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primary-dark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2276856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#003531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552" y="2249424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Hover, pressed framing,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048256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S3/CSS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07208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" y="2926080"/>
            <a:ext cx="512064" cy="512064"/>
          </a:xfrm>
          <a:prstGeom prst="roundRect">
            <a:avLst/>
          </a:prstGeom>
          <a:solidFill>
            <a:srgbClr val="001C19"/>
          </a:solidFill>
          <a:ln>
            <a:solidFill>
              <a:srgbClr val="001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2898648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primary-active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10896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#001C19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0552" y="3081528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Pressed state, stronger separation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880360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39312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" y="3758184"/>
            <a:ext cx="512064" cy="512064"/>
          </a:xfrm>
          <a:prstGeom prst="roundRect">
            <a:avLst/>
          </a:prstGeom>
          <a:solidFill>
            <a:srgbClr val="E6762D"/>
          </a:solidFill>
          <a:ln>
            <a:solidFill>
              <a:srgbClr val="E67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2728" y="3730752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accent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3941063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#E6762D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0552" y="3913632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Large headings, charts, decoration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712463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S2/S3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471416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" y="4590288"/>
            <a:ext cx="512064" cy="512064"/>
          </a:xfrm>
          <a:prstGeom prst="roundRect">
            <a:avLst/>
          </a:prstGeom>
          <a:solidFill>
            <a:srgbClr val="B15315"/>
          </a:solidFill>
          <a:ln>
            <a:solidFill>
              <a:srgbClr val="B15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52728" y="4562856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accent-accessible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4773168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#B15315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0552" y="4745736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Normal white-text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544568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CSS/a11y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303520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648" y="5422392"/>
            <a:ext cx="512064" cy="512064"/>
          </a:xfrm>
          <a:prstGeom prst="roundRect">
            <a:avLst/>
          </a:prstGeom>
          <a:solidFill>
            <a:srgbClr val="733208"/>
          </a:solidFill>
          <a:ln>
            <a:solidFill>
              <a:srgbClr val="733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52728" y="5394959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accent-selected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2728" y="560527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#733208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30552" y="5577840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Selected accent state with white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37667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CSS/a11y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1143000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53128" y="1261872"/>
            <a:ext cx="512064" cy="512064"/>
          </a:xfrm>
          <a:prstGeom prst="roundRect">
            <a:avLst/>
          </a:prstGeom>
          <a:solidFill>
            <a:srgbClr val="001C19"/>
          </a:solidFill>
          <a:ln>
            <a:solidFill>
              <a:srgbClr val="001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93208" y="1234440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text-on-accent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93208" y="144475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#001C19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71032" y="1417320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Dark text on raw accent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121615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contrast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43400" y="1975104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53128" y="2093976"/>
            <a:ext cx="512064" cy="512064"/>
          </a:xfrm>
          <a:prstGeom prst="round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93208" y="2066544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3208" y="2276856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#333333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71032" y="2249424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Primary body and UI 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2048256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S2/CSS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43400" y="2807208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53128" y="2926080"/>
            <a:ext cx="512064" cy="512064"/>
          </a:xfrm>
          <a:prstGeom prst="roundRect">
            <a:avLst/>
          </a:prstGeom>
          <a:solidFill>
            <a:srgbClr val="6C757D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3208" y="2898648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text-muted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93208" y="310896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#6C757D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71032" y="3081528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Secondary metadata on white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9480" y="2880360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43400" y="3639312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453128" y="3758184"/>
            <a:ext cx="512064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93208" y="3730752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surface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3208" y="3941063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#FFFFFF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71032" y="3913632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Main surface and cards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3712463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S1/S2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43400" y="4471416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453128" y="4590288"/>
            <a:ext cx="512064" cy="512064"/>
          </a:xfrm>
          <a:prstGeom prst="round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93208" y="4562856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surface-subtle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93208" y="4773168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#F7F7F7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71032" y="4745736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Page canvas, alternate rows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9480" y="4544568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S2/CSS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43400" y="5303520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453128" y="5422392"/>
            <a:ext cx="512064" cy="512064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93208" y="5394959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surface-muted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3208" y="560527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#ECECEC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71032" y="5577840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Muted structural regions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69480" y="537667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83880" y="1143000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293608" y="1261872"/>
            <a:ext cx="512064" cy="512064"/>
          </a:xfrm>
          <a:prstGeom prst="roundRect">
            <a:avLst/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33688" y="1234440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surface-disabled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33688" y="144475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#EAEAEA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11512" y="1417320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Disabled controls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09960" y="121615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83880" y="1975104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293608" y="2093976"/>
            <a:ext cx="512064" cy="512064"/>
          </a:xfrm>
          <a:prstGeom prst="roundRect">
            <a:avLst/>
          </a:prstGeom>
          <a:solidFill>
            <a:srgbClr val="CECECE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33688" y="2066544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border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33688" y="2276856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#CECECE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11512" y="2249424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Dividers and boundaries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09960" y="2048256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S5/CSS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83880" y="2807208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293608" y="2926080"/>
            <a:ext cx="512064" cy="512064"/>
          </a:xfrm>
          <a:prstGeom prst="roundRect">
            <a:avLst/>
          </a:prstGeom>
          <a:solidFill>
            <a:srgbClr val="FFF2EA"/>
          </a:solidFill>
          <a:ln>
            <a:solidFill>
              <a:srgbClr val="FF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33688" y="2898648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table-header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33688" y="310896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#FFF2EA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11512" y="3081528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Warm table/list header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09960" y="2880360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183880" y="3639312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293608" y="3758184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33688" y="3730752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focus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33688" y="3941063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#006A63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11512" y="3913632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Existing focus indication color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109960" y="3712463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semantic alias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183880" y="4471416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8293608" y="4590288"/>
            <a:ext cx="512064" cy="512064"/>
          </a:xfrm>
          <a:prstGeom prst="round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33688" y="4562856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danger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33688" y="4773168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#DC3545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11512" y="4745736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Error/destructive text and borders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109960" y="4544568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CSS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183880" y="5303520"/>
            <a:ext cx="358444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8293608" y="5422392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33688" y="5394959"/>
            <a:ext cx="267004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03531"/>
                </a:solidFill>
                <a:latin typeface="Arial"/>
              </a:rPr>
              <a:t>success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33688" y="5605272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#006A63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11512" y="5577840"/>
            <a:ext cx="1755648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Positive states with label/icon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09960" y="5376672"/>
            <a:ext cx="530352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00" b="1">
                <a:solidFill>
                  <a:srgbClr val="E6762D"/>
                </a:solidFill>
                <a:latin typeface="Arial"/>
              </a:rPr>
              <a:t>semantic alias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Common Look &amp; Feel · 18 semantic UI tokens · logo artwork colors excluded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18320" y="653796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6C757D"/>
                </a:solidFill>
                <a:latin typeface="Arial"/>
              </a:rPr>
              <a:t>DESIGN.md is normative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E6762D"/>
                </a:solidFill>
                <a:latin typeface="Arial"/>
              </a:rPr>
              <a:t>THE PALETTE IS COMPLETE; NOT EVERY COMBINATION IS VALID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03531"/>
                </a:solidFill>
                <a:latin typeface="Arial"/>
              </a:rPr>
              <a:t>Usage and accessibility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28832" y="265176"/>
            <a:ext cx="512064" cy="512064"/>
          </a:xfrm>
          <a:prstGeom prst="roundRect">
            <a:avLst/>
          </a:prstGeom>
          <a:solidFill>
            <a:srgbClr val="006A63"/>
          </a:solidFill>
          <a:ln>
            <a:solidFill>
              <a:srgbClr val="006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3611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80160"/>
            <a:ext cx="8686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006A63"/>
                </a:solidFill>
                <a:latin typeface="Arial"/>
              </a:rPr>
              <a:t>6.48:1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280160"/>
            <a:ext cx="22402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White on 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1545336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6C757D"/>
                </a:solidFill>
                <a:latin typeface="Arial"/>
              </a:rPr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70432"/>
            <a:ext cx="3611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280160"/>
            <a:ext cx="8686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006A63"/>
                </a:solidFill>
                <a:latin typeface="Arial"/>
              </a:rPr>
              <a:t>13.52:1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1280160"/>
            <a:ext cx="22402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White on primary-dark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1545336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6C757D"/>
                </a:solidFill>
                <a:latin typeface="Arial"/>
              </a:rP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31136"/>
            <a:ext cx="3611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340864"/>
            <a:ext cx="8686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006A63"/>
                </a:solidFill>
                <a:latin typeface="Arial"/>
              </a:rPr>
              <a:t>3.00:1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2340864"/>
            <a:ext cx="22402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White on raw accent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260604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B15315"/>
                </a:solidFill>
                <a:latin typeface="Arial"/>
              </a:rPr>
              <a:t>FAIL normal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231136"/>
            <a:ext cx="3611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340864"/>
            <a:ext cx="8686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006A63"/>
                </a:solidFill>
                <a:latin typeface="Arial"/>
              </a:rPr>
              <a:t>5.10:1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2340864"/>
            <a:ext cx="22402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White on accent-accessible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260604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6C757D"/>
                </a:solidFill>
                <a:latin typeface="Arial"/>
              </a:rPr>
              <a:t>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91839"/>
            <a:ext cx="3611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401568"/>
            <a:ext cx="8686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006A63"/>
                </a:solidFill>
                <a:latin typeface="Arial"/>
              </a:rPr>
              <a:t>9.59:1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3401568"/>
            <a:ext cx="22402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White on accent-selected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3666744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6C757D"/>
                </a:solidFill>
                <a:latin typeface="Arial"/>
              </a:rPr>
              <a:t>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291839"/>
            <a:ext cx="3611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401568"/>
            <a:ext cx="8686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006A63"/>
                </a:solidFill>
                <a:latin typeface="Arial"/>
              </a:rPr>
              <a:t>12.63:1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112" y="3401568"/>
            <a:ext cx="22402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Text on white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8112" y="3666744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6C757D"/>
                </a:solidFill>
                <a:latin typeface="Arial"/>
              </a:rPr>
              <a:t>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352544"/>
            <a:ext cx="3611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462272"/>
            <a:ext cx="8686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006A63"/>
                </a:solidFill>
                <a:latin typeface="Arial"/>
              </a:rPr>
              <a:t>4.69:1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1912" y="4462272"/>
            <a:ext cx="22402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Muted text on white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4727448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6C757D"/>
                </a:solidFill>
                <a:latin typeface="Arial"/>
              </a:rPr>
              <a:t>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4352544"/>
            <a:ext cx="3611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4462272"/>
            <a:ext cx="8686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006A63"/>
                </a:solidFill>
                <a:latin typeface="Arial"/>
              </a:rPr>
              <a:t>4.53:1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4462272"/>
            <a:ext cx="22402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rial"/>
              </a:rPr>
              <a:t>Danger on white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8112" y="4727448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6C757D"/>
                </a:solidFill>
                <a:latin typeface="Arial"/>
              </a:rPr>
              <a:t>PASS narrowly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58200" y="1170432"/>
            <a:ext cx="3218688" cy="4151376"/>
          </a:xfrm>
          <a:prstGeom prst="roundRect">
            <a:avLst/>
          </a:prstGeom>
          <a:solidFill>
            <a:srgbClr val="F7F7F7"/>
          </a:solidFill>
          <a:ln>
            <a:solidFill>
              <a:srgbClr val="CEC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05088" y="1417320"/>
            <a:ext cx="2697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003531"/>
                </a:solidFill>
                <a:latin typeface="Arial"/>
              </a:rPr>
              <a:t>Non-negotiable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1901952"/>
            <a:ext cx="260604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1. Use semantic token names, not visual guesses.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8" y="2377440"/>
            <a:ext cx="260604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2. Raw accent is decorative or large-text only.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2852928"/>
            <a:ext cx="260604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3. Never use color as the sole status cue.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3328416"/>
            <a:ext cx="260604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4. Logo artwork colors are not UI tokens.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3803904"/>
            <a:ext cx="260604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5. Consume approved logos as image assets.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4279392"/>
            <a:ext cx="260604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</a:rPr>
              <a:t>6. PPT, DESIGN.md and skill templates must stay at 18 tokens.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7498079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Arial"/>
              </a:rPr>
              <a:t>Normative source: DESIGN.md · Evidence: docs/design-system/source-evidence.md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Common Look &amp; Feel · 18 semantic UI tokens · logo artwork colors excluded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6537960"/>
            <a:ext cx="224028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6C757D"/>
                </a:solidFill>
                <a:latin typeface="Arial"/>
              </a:rPr>
              <a:t>DESIGN.md is normative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Look &amp; Feel — Complete 18-Token UI Colour Foundation</dc:title>
  <dc:subject>Evidence-referenced semantic UI palette; logo artwork colors excluded</dc:subject>
  <dc:creator>Platform Engineering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